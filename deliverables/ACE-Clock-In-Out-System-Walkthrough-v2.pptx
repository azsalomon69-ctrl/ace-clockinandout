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4177ceaed849d9" /><Relationship Type="http://schemas.openxmlformats.org/officeDocument/2006/relationships/extended-properties" Target="/docProps/app.xml" Id="Rf094e2a0dc634eac" /><Relationship Type="http://schemas.openxmlformats.org/officeDocument/2006/relationships/officeDocument" Target="/ppt/presentation.xml" Id="Rd024fb43b59144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7616e5a50f49d1"/>
  </p:sldMasterIdLst>
  <p:notesMasterIdLst>
    <p:notesMasterId xmlns:r="http://schemas.openxmlformats.org/officeDocument/2006/relationships" r:id="R8239633a19754b97"/>
  </p:notesMasterIdLst>
  <p:sldIdLst>
    <p:sldId xmlns:r="http://schemas.openxmlformats.org/officeDocument/2006/relationships" id="256" r:id="R1425eec1dc174153"/>
    <p:sldId xmlns:r="http://schemas.openxmlformats.org/officeDocument/2006/relationships" id="257" r:id="R3fec9239287647e1"/>
    <p:sldId xmlns:r="http://schemas.openxmlformats.org/officeDocument/2006/relationships" id="258" r:id="Reffc0dcaca894653"/>
    <p:sldId xmlns:r="http://schemas.openxmlformats.org/officeDocument/2006/relationships" id="259" r:id="Rb77f223abcaf4233"/>
    <p:sldId xmlns:r="http://schemas.openxmlformats.org/officeDocument/2006/relationships" id="260" r:id="Re1792b83b29348cd"/>
    <p:sldId xmlns:r="http://schemas.openxmlformats.org/officeDocument/2006/relationships" id="261" r:id="Rd3ee66ee00c242a5"/>
    <p:sldId xmlns:r="http://schemas.openxmlformats.org/officeDocument/2006/relationships" id="262" r:id="Rd4836b696a3e454e"/>
    <p:sldId xmlns:r="http://schemas.openxmlformats.org/officeDocument/2006/relationships" id="263" r:id="R5edec17d00604637"/>
    <p:sldId xmlns:r="http://schemas.openxmlformats.org/officeDocument/2006/relationships" id="264" r:id="Rd580fed2f0984053"/>
    <p:sldId xmlns:r="http://schemas.openxmlformats.org/officeDocument/2006/relationships" id="265" r:id="R98ecfa0aedb74b4a"/>
    <p:sldId xmlns:r="http://schemas.openxmlformats.org/officeDocument/2006/relationships" id="266" r:id="Rb6ace4b64d02403b"/>
    <p:sldId xmlns:r="http://schemas.openxmlformats.org/officeDocument/2006/relationships" id="267" r:id="R6a6ac43ebc3a4e39"/>
    <p:sldId xmlns:r="http://schemas.openxmlformats.org/officeDocument/2006/relationships" id="268" r:id="R3dd4ba6779c74df2"/>
    <p:sldId xmlns:r="http://schemas.openxmlformats.org/officeDocument/2006/relationships" id="269" r:id="Rc61261798e164d48"/>
    <p:sldId xmlns:r="http://schemas.openxmlformats.org/officeDocument/2006/relationships" id="270" r:id="Rd7973d2587b84729"/>
    <p:sldId xmlns:r="http://schemas.openxmlformats.org/officeDocument/2006/relationships" id="271" r:id="R2e62599eba8744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d1eedea0464dbf" /><Relationship Type="http://schemas.openxmlformats.org/officeDocument/2006/relationships/slideMaster" Target="/ppt/slideMasters/slideMaster1.xml" Id="Rce7616e5a50f49d1" /><Relationship Type="http://schemas.openxmlformats.org/officeDocument/2006/relationships/notesMaster" Target="/ppt/notesMasters/notesMaster1.xml" Id="R8239633a19754b97" /><Relationship Type="http://schemas.openxmlformats.org/officeDocument/2006/relationships/presProps" Target="/ppt/presProps.xml" Id="R5464198dfc424657" /><Relationship Type="http://schemas.openxmlformats.org/officeDocument/2006/relationships/tableStyles" Target="/ppt/tableStyles.xml" Id="R9788de4354a741c6" /><Relationship Type="http://schemas.openxmlformats.org/officeDocument/2006/relationships/slide" Target="/ppt/slides/slide1.xml" Id="R1425eec1dc174153" /><Relationship Type="http://schemas.openxmlformats.org/officeDocument/2006/relationships/slide" Target="/ppt/slides/slide2.xml" Id="R3fec9239287647e1" /><Relationship Type="http://schemas.openxmlformats.org/officeDocument/2006/relationships/slide" Target="/ppt/slides/slide3.xml" Id="Reffc0dcaca894653" /><Relationship Type="http://schemas.openxmlformats.org/officeDocument/2006/relationships/slide" Target="/ppt/slides/slide4.xml" Id="Rb77f223abcaf4233" /><Relationship Type="http://schemas.openxmlformats.org/officeDocument/2006/relationships/slide" Target="/ppt/slides/slide5.xml" Id="Re1792b83b29348cd" /><Relationship Type="http://schemas.openxmlformats.org/officeDocument/2006/relationships/slide" Target="/ppt/slides/slide6.xml" Id="Rd3ee66ee00c242a5" /><Relationship Type="http://schemas.openxmlformats.org/officeDocument/2006/relationships/slide" Target="/ppt/slides/slide7.xml" Id="Rd4836b696a3e454e" /><Relationship Type="http://schemas.openxmlformats.org/officeDocument/2006/relationships/slide" Target="/ppt/slides/slide8.xml" Id="R5edec17d00604637" /><Relationship Type="http://schemas.openxmlformats.org/officeDocument/2006/relationships/slide" Target="/ppt/slides/slide9.xml" Id="Rd580fed2f0984053" /><Relationship Type="http://schemas.openxmlformats.org/officeDocument/2006/relationships/slide" Target="/ppt/slides/slide10.xml" Id="R98ecfa0aedb74b4a" /><Relationship Type="http://schemas.openxmlformats.org/officeDocument/2006/relationships/slide" Target="/ppt/slides/slide11.xml" Id="Rb6ace4b64d02403b" /><Relationship Type="http://schemas.openxmlformats.org/officeDocument/2006/relationships/slide" Target="/ppt/slides/slide12.xml" Id="R6a6ac43ebc3a4e39" /><Relationship Type="http://schemas.openxmlformats.org/officeDocument/2006/relationships/slide" Target="/ppt/slides/slide13.xml" Id="R3dd4ba6779c74df2" /><Relationship Type="http://schemas.openxmlformats.org/officeDocument/2006/relationships/slide" Target="/ppt/slides/slide14.xml" Id="Rc61261798e164d48" /><Relationship Type="http://schemas.openxmlformats.org/officeDocument/2006/relationships/slide" Target="/ppt/slides/slide15.xml" Id="Rd7973d2587b84729" /><Relationship Type="http://schemas.openxmlformats.org/officeDocument/2006/relationships/slide" Target="/ppt/slides/slide16.xml" Id="R2e62599eba8744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ce37fa0fb641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d4eb5e3d7b4e11" /><Relationship Type="http://schemas.openxmlformats.org/officeDocument/2006/relationships/notesMaster" Target="/ppt/notesMasters/notesMaster1.xml" Id="R66ae559af6a047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2745c472904ef1" /><Relationship Type="http://schemas.openxmlformats.org/officeDocument/2006/relationships/notesMaster" Target="/ppt/notesMasters/notesMaster1.xml" Id="Ref8b7f495d6247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cc2743096c4ee2" /><Relationship Type="http://schemas.openxmlformats.org/officeDocument/2006/relationships/notesMaster" Target="/ppt/notesMasters/notesMaster1.xml" Id="R1d8a531d64874b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7c4b3acb1041e9" /><Relationship Type="http://schemas.openxmlformats.org/officeDocument/2006/relationships/notesMaster" Target="/ppt/notesMasters/notesMaster1.xml" Id="R6872ded2b19542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40a04a9a7f4b5d" /><Relationship Type="http://schemas.openxmlformats.org/officeDocument/2006/relationships/notesMaster" Target="/ppt/notesMasters/notesMaster1.xml" Id="R29eb8928e1494d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bb0b3eb785458b" /><Relationship Type="http://schemas.openxmlformats.org/officeDocument/2006/relationships/notesMaster" Target="/ppt/notesMasters/notesMaster1.xml" Id="R1058718de65348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8ca82c176946bf" /><Relationship Type="http://schemas.openxmlformats.org/officeDocument/2006/relationships/notesMaster" Target="/ppt/notesMasters/notesMaster1.xml" Id="R23eba9caa98446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4819136c36434e" /><Relationship Type="http://schemas.openxmlformats.org/officeDocument/2006/relationships/notesMaster" Target="/ppt/notesMasters/notesMaster1.xml" Id="R85d0e8babcd14a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82721bfb6c43ce" /><Relationship Type="http://schemas.openxmlformats.org/officeDocument/2006/relationships/notesMaster" Target="/ppt/notesMasters/notesMaster1.xml" Id="R8f2c82e36c314c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c30482cce042a9" /><Relationship Type="http://schemas.openxmlformats.org/officeDocument/2006/relationships/notesMaster" Target="/ppt/notesMasters/notesMaster1.xml" Id="Rd8fdf0cfbf924f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fdc4319abe479b" /><Relationship Type="http://schemas.openxmlformats.org/officeDocument/2006/relationships/notesMaster" Target="/ppt/notesMasters/notesMaster1.xml" Id="R2be755fd902446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3eaeaaff7d42d7" /><Relationship Type="http://schemas.openxmlformats.org/officeDocument/2006/relationships/notesMaster" Target="/ppt/notesMasters/notesMaster1.xml" Id="Rb023fec3a4414a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ea0de070144dc4" /><Relationship Type="http://schemas.openxmlformats.org/officeDocument/2006/relationships/notesMaster" Target="/ppt/notesMasters/notesMaster1.xml" Id="R568d07dabaeb4c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79b65f24154d27" /><Relationship Type="http://schemas.openxmlformats.org/officeDocument/2006/relationships/notesMaster" Target="/ppt/notesMasters/notesMaster1.xml" Id="R59efda56980f4d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65965f9c7a4ef6" /><Relationship Type="http://schemas.openxmlformats.org/officeDocument/2006/relationships/notesMaster" Target="/ppt/notesMasters/notesMaster1.xml" Id="R27a2720aa2c94a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5f1e42ca574478f" /><Relationship Type="http://schemas.openxmlformats.org/officeDocument/2006/relationships/notesMaster" Target="/ppt/notesMasters/notesMaster1.xml" Id="R8e1ff0188c6f4d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index.html</a:t>
            </a:r>
          </a:p>
          <a:p xmlns:a="http://schemas.openxmlformats.org/drawingml/2006/main">
            <a:r>
              <a:t>- server/index.js</a:t>
            </a:r>
          </a:p>
          <a:p xmlns:a="http://schemas.openxmlformats.org/drawingml/2006/main">
            <a:r>
              <a:t>- supabase/schema.sql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All 19 *.html files</a:t>
            </a:r>
          </a:p>
          <a:p xmlns:a="http://schemas.openxmlformats.org/drawingml/2006/main">
            <a:r>
              <a:t>- server/index.js</a:t>
            </a:r>
          </a:p>
          <a:p xmlns:a="http://schemas.openxmlformats.org/drawingml/2006/main">
            <a:r>
              <a:t>- js/script.js</a:t>
            </a:r>
          </a:p>
          <a:p xmlns:a="http://schemas.openxmlformats.org/drawingml/2006/main">
            <a:r>
              <a:t>- js/admin-sections.js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server/index.js: authenticate/adminOnly/activeOnly middleware</a:t>
            </a:r>
          </a:p>
          <a:p xmlns:a="http://schemas.openxmlformats.org/drawingml/2006/main">
            <a:r>
              <a:t>- supabase/schema.sql: profile trigger and audit trigger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login.html</a:t>
            </a:r>
          </a:p>
          <a:p xmlns:a="http://schemas.openxmlformats.org/drawingml/2006/main">
            <a:r>
              <a:t>- js/script.js: handleGoogleLogin and beginGoogleAccessRequest</a:t>
            </a:r>
          </a:p>
          <a:p xmlns:a="http://schemas.openxmlformats.org/drawingml/2006/main">
            <a:r>
              <a:t>- server/index.js: /v1/access-requests and /v1/invitations</a:t>
            </a:r>
          </a:p>
          <a:p xmlns:a="http://schemas.openxmlformats.org/drawingml/2006/main">
            <a:r>
              <a:t>- supabase/schema.sql: create_profile_for_auth_user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user-dashboard.html</a:t>
            </a:r>
          </a:p>
          <a:p xmlns:a="http://schemas.openxmlformats.org/drawingml/2006/main">
            <a:r>
              <a:t>- js/script.js: loadUserDashboard, startTimer, updateTimerDisplay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server/index.js: /v1/time-entries/clock-in and /clock-out</a:t>
            </a:r>
          </a:p>
          <a:p xmlns:a="http://schemas.openxmlformats.org/drawingml/2006/main">
            <a:r>
              <a:t>- supabase/schema.sql: time_entries and one_open_entry_per_user</a:t>
            </a:r>
          </a:p>
          <a:p xmlns:a="http://schemas.openxmlformats.org/drawingml/2006/main">
            <a:r>
              <a:t>- js/script.js: handleClockIn, handleClockOut, startPresenceHeartbeat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time-entries.html</a:t>
            </a:r>
          </a:p>
          <a:p xmlns:a="http://schemas.openxmlformats.org/drawingml/2006/main">
            <a:r>
              <a:t>- remarks.html</a:t>
            </a:r>
          </a:p>
          <a:p xmlns:a="http://schemas.openxmlformats.org/drawingml/2006/main">
            <a:r>
              <a:t>- js/script.js: initializeEmployeeChat and loadTimeEntries</a:t>
            </a:r>
          </a:p>
          <a:p xmlns:a="http://schemas.openxmlformats.org/drawingml/2006/main">
            <a:r>
              <a:t>- server/index.js: employee chat routes</a:t>
            </a:r>
          </a:p>
          <a:p xmlns:a="http://schemas.openxmlformats.org/drawingml/2006/main">
            <a:r>
              <a:t>- supabase/employee-chat.sql</a:t>
            </a:r>
          </a:p>
          <a:p xmlns:a="http://schemas.openxmlformats.org/drawingml/2006/main">
            <a:r>
              <a:t>- supabase/scheduled-time-entries.sql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admin-dashboard.html</a:t>
            </a:r>
          </a:p>
          <a:p xmlns:a="http://schemas.openxmlformats.org/drawingml/2006/main">
            <a:r>
              <a:t>- js/script.js: initializeAnalyticsRangePicker, renderAdminAnalytics, generateAdminAnalyticsReport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users.html</a:t>
            </a:r>
          </a:p>
          <a:p xmlns:a="http://schemas.openxmlformats.org/drawingml/2006/main">
            <a:r>
              <a:t>- access-requests.html</a:t>
            </a:r>
          </a:p>
          <a:p xmlns:a="http://schemas.openxmlformats.org/drawingml/2006/main">
            <a:r>
              <a:t>- invitations.html</a:t>
            </a:r>
          </a:p>
          <a:p xmlns:a="http://schemas.openxmlformats.org/drawingml/2006/main">
            <a:r>
              <a:t>- deleted-users.html</a:t>
            </a:r>
          </a:p>
          <a:p xmlns:a="http://schemas.openxmlformats.org/drawingml/2006/main">
            <a:r>
              <a:t>- server/index.js: user approval, role, department, project, archive, restore, permanent delete routes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departments.html</a:t>
            </a:r>
          </a:p>
          <a:p xmlns:a="http://schemas.openxmlformats.org/drawingml/2006/main">
            <a:r>
              <a:t>- projects.html</a:t>
            </a:r>
          </a:p>
          <a:p xmlns:a="http://schemas.openxmlformats.org/drawingml/2006/main">
            <a:r>
              <a:t>- server/index.js: department/project/user-project routes</a:t>
            </a:r>
          </a:p>
          <a:p xmlns:a="http://schemas.openxmlformats.org/drawingml/2006/main">
            <a:r>
              <a:t>- supabase/schema.sql: departments, projects, profiles, user_projects, time_entries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admin-time-entries.html</a:t>
            </a:r>
          </a:p>
          <a:p xmlns:a="http://schemas.openxmlformats.org/drawingml/2006/main">
            <a:r>
              <a:t>- deleted-time-entries.html</a:t>
            </a:r>
          </a:p>
          <a:p xmlns:a="http://schemas.openxmlformats.org/drawingml/2006/main">
            <a:r>
              <a:t>- remarks.html</a:t>
            </a:r>
          </a:p>
          <a:p xmlns:a="http://schemas.openxmlformats.org/drawingml/2006/main">
            <a:r>
              <a:t>- server/index.js: remark/delete/restore/permanent routes</a:t>
            </a:r>
          </a:p>
          <a:p xmlns:a="http://schemas.openxmlformats.org/drawingml/2006/main">
            <a:r>
              <a:t>- supabase/soft-delete-time-entries.sql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reports.html</a:t>
            </a:r>
          </a:p>
          <a:p xmlns:a="http://schemas.openxmlformats.org/drawingml/2006/main">
            <a:r>
              <a:t>- admin-dashboard.html</a:t>
            </a:r>
          </a:p>
          <a:p xmlns:a="http://schemas.openxmlformats.org/drawingml/2006/main">
            <a:r>
              <a:t>- js/script.js: handleGenerateReport, renderGeneratedReport, printGeneratedReport</a:t>
            </a:r>
          </a:p>
          <a:p xmlns:a="http://schemas.openxmlformats.org/drawingml/2006/main">
            <a:r>
              <a:t>- server/index.js: reports and exports routes</a:t>
            </a:r>
          </a:p>
          <a:p xmlns:a="http://schemas.openxmlformats.org/drawingml/2006/main">
            <a:r>
              <a:t>- supabase/schema.sql: reports and report_exports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audit-logs.html</a:t>
            </a:r>
          </a:p>
          <a:p xmlns:a="http://schemas.openxmlformats.org/drawingml/2006/main">
            <a:r>
              <a:t>- chat-log.html</a:t>
            </a:r>
          </a:p>
          <a:p xmlns:a="http://schemas.openxmlformats.org/drawingml/2006/main">
            <a:r>
              <a:t>- server/index.js: audit helper and /v1/admin/chat-log</a:t>
            </a:r>
          </a:p>
          <a:p xmlns:a="http://schemas.openxmlformats.org/drawingml/2006/main">
            <a:r>
              <a:t>- supabase/schema.sql: audit_logs and prevent_audit_log_changes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js/api-config.js</a:t>
            </a:r>
          </a:p>
          <a:p xmlns:a="http://schemas.openxmlformats.org/drawingml/2006/main">
            <a:r>
              <a:t>- js/supabase-auth.js</a:t>
            </a:r>
          </a:p>
          <a:p xmlns:a="http://schemas.openxmlformats.org/drawingml/2006/main">
            <a:r>
              <a:t>- server/index.js: setup, authenticate, middleware, error handler</a:t>
            </a:r>
          </a:p>
          <a:p xmlns:a="http://schemas.openxmlformats.org/drawingml/2006/main">
            <a:r>
              <a:t>- vercel.json</a:t>
            </a:r>
          </a:p>
          <a:p xmlns:a="http://schemas.openxmlformats.org/drawingml/2006/main">
            <a:r>
              <a:t>- render.yaml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supabase/schema.sql</a:t>
            </a:r>
          </a:p>
          <a:p xmlns:a="http://schemas.openxmlformats.org/drawingml/2006/main">
            <a:r>
              <a:t>- supabase/employee-chat.sql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inspected for this slide: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.env.example</a:t>
            </a:r>
          </a:p>
          <a:p xmlns:a="http://schemas.openxmlformats.org/drawingml/2006/main">
            <a:r>
              <a:t>- scripts/seed-admin.js</a:t>
            </a:r>
          </a:p>
          <a:p xmlns:a="http://schemas.openxmlformats.org/drawingml/2006/main">
            <a:r>
              <a:t>- render.yaml</a:t>
            </a:r>
          </a:p>
          <a:p xmlns:a="http://schemas.openxmlformats.org/drawingml/2006/main">
            <a:r>
              <a:t>- vercel.json</a:t>
            </a:r>
          </a:p>
          <a:p xmlns:a="http://schemas.openxmlformats.org/drawingml/2006/main">
            <a:r>
              <a:t>- server/index.js</a:t>
            </a:r>
          </a:p>
          <a:p xmlns:a="http://schemas.openxmlformats.org/drawingml/2006/main">
            <a:r>
              <a:t>- supabase/*.sql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e8771564484d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55a0c1be5b4070" /><Relationship Type="http://schemas.openxmlformats.org/officeDocument/2006/relationships/slideLayout" Target="/ppt/slideLayouts/slideLayout1.xml" Id="Rf9a1e39c8a8e47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a1e39c8a8e47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13cd9a7884c9d" /><Relationship Type="http://schemas.openxmlformats.org/officeDocument/2006/relationships/image" Target="/ppt/media/image.png" Id="R771a488f86854540" /><Relationship Type="http://schemas.openxmlformats.org/officeDocument/2006/relationships/image" Target="/ppt/media/image2.png" Id="R08438fd1a43541bd" /><Relationship Type="http://schemas.openxmlformats.org/officeDocument/2006/relationships/notesSlide" Target="/ppt/notesSlides/notesSlide1.xml" Id="R7e7ade15e4734f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b34f27baa4562" /><Relationship Type="http://schemas.openxmlformats.org/officeDocument/2006/relationships/image" Target="/ppt/media/image3.png" Id="R4ba0a7190f8848c9" /><Relationship Type="http://schemas.openxmlformats.org/officeDocument/2006/relationships/notesSlide" Target="/ppt/notesSlides/notesSlide2.xml" Id="R7714458ec65543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ada26fc404510" /><Relationship Type="http://schemas.openxmlformats.org/officeDocument/2006/relationships/image" Target="/ppt/media/image4.png" Id="R8ae5386dfeb04713" /><Relationship Type="http://schemas.openxmlformats.org/officeDocument/2006/relationships/notesSlide" Target="/ppt/notesSlides/notesSlide3.xml" Id="R08d517faa38745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0c389de0d4997" /><Relationship Type="http://schemas.openxmlformats.org/officeDocument/2006/relationships/image" Target="/ppt/media/image5.png" Id="Ra92095c229e9428f" /><Relationship Type="http://schemas.openxmlformats.org/officeDocument/2006/relationships/image" Target="/ppt/media/image6.png" Id="R5699d7ca82384886" /><Relationship Type="http://schemas.openxmlformats.org/officeDocument/2006/relationships/notesSlide" Target="/ppt/notesSlides/notesSlide4.xml" Id="Rddcb953c887d43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ce578ad6c4757" /><Relationship Type="http://schemas.openxmlformats.org/officeDocument/2006/relationships/image" Target="/ppt/media/image7.png" Id="R9b719b7e28304f8a" /><Relationship Type="http://schemas.openxmlformats.org/officeDocument/2006/relationships/image" Target="/ppt/media/image8.png" Id="Rfad20b1966ae4901" /><Relationship Type="http://schemas.openxmlformats.org/officeDocument/2006/relationships/image" Target="/ppt/media/image.svg" Id="R086ba78625fb4ea7" /><Relationship Type="http://schemas.openxmlformats.org/officeDocument/2006/relationships/image" Target="/ppt/media/image9.png" Id="Rb5612895de3a4ccd" /><Relationship Type="http://schemas.openxmlformats.org/officeDocument/2006/relationships/image" Target="/ppt/media/image2.svg" Id="Rd53569428d55400e" /><Relationship Type="http://schemas.openxmlformats.org/officeDocument/2006/relationships/image" Target="/ppt/media/image10.png" Id="R622c7c5ad1f241c4" /><Relationship Type="http://schemas.openxmlformats.org/officeDocument/2006/relationships/image" Target="/ppt/media/image3.svg" Id="R5a8ed04e35824711" /><Relationship Type="http://schemas.openxmlformats.org/officeDocument/2006/relationships/notesSlide" Target="/ppt/notesSlides/notesSlide5.xml" Id="R4248acdeb6a641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ced6449ce48fe" /><Relationship Type="http://schemas.openxmlformats.org/officeDocument/2006/relationships/image" Target="/ppt/media/image11.png" Id="Rf6347fc723da4d86" /><Relationship Type="http://schemas.openxmlformats.org/officeDocument/2006/relationships/notesSlide" Target="/ppt/notesSlides/notesSlide6.xml" Id="R11cd819154164b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f30c006374b69" /><Relationship Type="http://schemas.openxmlformats.org/officeDocument/2006/relationships/image" Target="/ppt/media/image12.png" Id="Rde602aab9e364e72" /><Relationship Type="http://schemas.openxmlformats.org/officeDocument/2006/relationships/image" Target="/ppt/media/image13.png" Id="Rd9ec585e6ba644c3" /><Relationship Type="http://schemas.openxmlformats.org/officeDocument/2006/relationships/image" Target="/ppt/media/image4.svg" Id="R45f953581ace420d" /><Relationship Type="http://schemas.openxmlformats.org/officeDocument/2006/relationships/image" Target="/ppt/media/image14.png" Id="Rbce05b7379524c43" /><Relationship Type="http://schemas.openxmlformats.org/officeDocument/2006/relationships/image" Target="/ppt/media/image5.svg" Id="R1dafcf377aaa405a" /><Relationship Type="http://schemas.openxmlformats.org/officeDocument/2006/relationships/image" Target="/ppt/media/image15.png" Id="R39c95992813e4d6a" /><Relationship Type="http://schemas.openxmlformats.org/officeDocument/2006/relationships/image" Target="/ppt/media/image6.svg" Id="R4902797664984e0c" /><Relationship Type="http://schemas.openxmlformats.org/officeDocument/2006/relationships/notesSlide" Target="/ppt/notesSlides/notesSlide7.xml" Id="Rae39907df9ef44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e705d855d4ae9" /><Relationship Type="http://schemas.openxmlformats.org/officeDocument/2006/relationships/image" Target="/ppt/media/image16.png" Id="Re38bcf1f0122454f" /><Relationship Type="http://schemas.openxmlformats.org/officeDocument/2006/relationships/image" Target="/ppt/media/image17.png" Id="R26fee4ea1c7b4861" /><Relationship Type="http://schemas.openxmlformats.org/officeDocument/2006/relationships/image" Target="/ppt/media/image7.svg" Id="Rbb838958e3f949fa" /><Relationship Type="http://schemas.openxmlformats.org/officeDocument/2006/relationships/image" Target="/ppt/media/image18.png" Id="R14e99e0310174b71" /><Relationship Type="http://schemas.openxmlformats.org/officeDocument/2006/relationships/image" Target="/ppt/media/image8.svg" Id="Rfd60676b35ab45ff" /><Relationship Type="http://schemas.openxmlformats.org/officeDocument/2006/relationships/image" Target="/ppt/media/image19.png" Id="Ra1b3caf9f07e4d11" /><Relationship Type="http://schemas.openxmlformats.org/officeDocument/2006/relationships/image" Target="/ppt/media/image9.svg" Id="R2363b2be1174449a" /><Relationship Type="http://schemas.openxmlformats.org/officeDocument/2006/relationships/notesSlide" Target="/ppt/notesSlides/notesSlide8.xml" Id="R74dcd3472c7c43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684607b424b92" /><Relationship Type="http://schemas.openxmlformats.org/officeDocument/2006/relationships/image" Target="/ppt/media/image20.png" Id="R9a25d7dd2ee54b84" /><Relationship Type="http://schemas.openxmlformats.org/officeDocument/2006/relationships/notesSlide" Target="/ppt/notesSlides/notesSlide9.xml" Id="Ra1acbedfe54e48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7dc1cc4ba4944" /><Relationship Type="http://schemas.openxmlformats.org/officeDocument/2006/relationships/image" Target="/ppt/media/image21.png" Id="R9a97f07daa8340b5" /><Relationship Type="http://schemas.openxmlformats.org/officeDocument/2006/relationships/notesSlide" Target="/ppt/notesSlides/notesSlide10.xml" Id="Rc3aa50f034664e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87ce80ca54dc6" /><Relationship Type="http://schemas.openxmlformats.org/officeDocument/2006/relationships/image" Target="/ppt/media/image22.png" Id="R5ce1394f01964151" /><Relationship Type="http://schemas.openxmlformats.org/officeDocument/2006/relationships/image" Target="/ppt/media/image23.png" Id="Rb178153f84d04d0e" /><Relationship Type="http://schemas.openxmlformats.org/officeDocument/2006/relationships/image" Target="/ppt/media/image10.svg" Id="R570ffe2a29a74c2d" /><Relationship Type="http://schemas.openxmlformats.org/officeDocument/2006/relationships/image" Target="/ppt/media/image24.png" Id="Rab0886d18f8b48c9" /><Relationship Type="http://schemas.openxmlformats.org/officeDocument/2006/relationships/image" Target="/ppt/media/image11.svg" Id="R0ffbefc5c7704b0e" /><Relationship Type="http://schemas.openxmlformats.org/officeDocument/2006/relationships/image" Target="/ppt/media/image25.png" Id="R7a60aa4dd4d14a45" /><Relationship Type="http://schemas.openxmlformats.org/officeDocument/2006/relationships/image" Target="/ppt/media/image12.svg" Id="R215f9304e9b247b5" /><Relationship Type="http://schemas.openxmlformats.org/officeDocument/2006/relationships/notesSlide" Target="/ppt/notesSlides/notesSlide11.xml" Id="R85704e0583bd4b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eb81fa2a54729" /><Relationship Type="http://schemas.openxmlformats.org/officeDocument/2006/relationships/image" Target="/ppt/media/image26.png" Id="Rf14dc45788bb46c4" /><Relationship Type="http://schemas.openxmlformats.org/officeDocument/2006/relationships/image" Target="/ppt/media/image27.png" Id="R5c198411288b4d55" /><Relationship Type="http://schemas.openxmlformats.org/officeDocument/2006/relationships/image" Target="/ppt/media/image13.svg" Id="Rfa2c081ff7fb406c" /><Relationship Type="http://schemas.openxmlformats.org/officeDocument/2006/relationships/image" Target="/ppt/media/image28.png" Id="Rf2332b13ec6d444c" /><Relationship Type="http://schemas.openxmlformats.org/officeDocument/2006/relationships/image" Target="/ppt/media/image14.svg" Id="R8046701e9205490a" /><Relationship Type="http://schemas.openxmlformats.org/officeDocument/2006/relationships/image" Target="/ppt/media/image29.png" Id="Rd39a06a287d1467b" /><Relationship Type="http://schemas.openxmlformats.org/officeDocument/2006/relationships/image" Target="/ppt/media/image15.svg" Id="Rba6b76d88ef2437a" /><Relationship Type="http://schemas.openxmlformats.org/officeDocument/2006/relationships/image" Target="/ppt/media/image30.png" Id="Rb6439dd81deb4a00" /><Relationship Type="http://schemas.openxmlformats.org/officeDocument/2006/relationships/image" Target="/ppt/media/image16.svg" Id="R53f7a1f3bd374e1a" /><Relationship Type="http://schemas.openxmlformats.org/officeDocument/2006/relationships/notesSlide" Target="/ppt/notesSlides/notesSlide12.xml" Id="Rb71d7102935349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03278fce242c4" /><Relationship Type="http://schemas.openxmlformats.org/officeDocument/2006/relationships/image" Target="/ppt/media/image31.png" Id="R4cb59412991f402d" /><Relationship Type="http://schemas.openxmlformats.org/officeDocument/2006/relationships/notesSlide" Target="/ppt/notesSlides/notesSlide13.xml" Id="Re1101cde3c5641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dadc5aa074cf8" /><Relationship Type="http://schemas.openxmlformats.org/officeDocument/2006/relationships/image" Target="/ppt/media/image32.png" Id="Rf4302d47c0fc45bf" /><Relationship Type="http://schemas.openxmlformats.org/officeDocument/2006/relationships/notesSlide" Target="/ppt/notesSlides/notesSlide14.xml" Id="Rf32ff1b7f5ce4a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db9fcd46f49d1" /><Relationship Type="http://schemas.openxmlformats.org/officeDocument/2006/relationships/image" Target="/ppt/media/image33.png" Id="R7499b349b2044aab" /><Relationship Type="http://schemas.openxmlformats.org/officeDocument/2006/relationships/notesSlide" Target="/ppt/notesSlides/notesSlide15.xml" Id="R30f7f277065e451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a124f6ba5442f" /><Relationship Type="http://schemas.openxmlformats.org/officeDocument/2006/relationships/image" Target="/ppt/media/image34.png" Id="R6e69922b5e7846f0" /><Relationship Type="http://schemas.openxmlformats.org/officeDocument/2006/relationships/image" Target="/ppt/media/image35.png" Id="Re1a211485cbb4d73" /><Relationship Type="http://schemas.openxmlformats.org/officeDocument/2006/relationships/image" Target="/ppt/media/image17.svg" Id="R315ce855237e443e" /><Relationship Type="http://schemas.openxmlformats.org/officeDocument/2006/relationships/image" Target="/ppt/media/image36.png" Id="Rcdbb03e21ae94032" /><Relationship Type="http://schemas.openxmlformats.org/officeDocument/2006/relationships/image" Target="/ppt/media/image18.svg" Id="R11c7e21cc4da469d" /><Relationship Type="http://schemas.openxmlformats.org/officeDocument/2006/relationships/image" Target="/ppt/media/image37.png" Id="Rff705dfd8a714466" /><Relationship Type="http://schemas.openxmlformats.org/officeDocument/2006/relationships/image" Target="/ppt/media/image19.svg" Id="R30178971d3264056" /><Relationship Type="http://schemas.openxmlformats.org/officeDocument/2006/relationships/notesSlide" Target="/ppt/notesSlides/notesSlide16.xml" Id="R651b7bb377a941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a488f86854540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4C3E8-1EE9-4628-AAAE-DB7F5F8F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F3E">
              <a:alpha val="80000"/>
            </a:srgbClr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38fd1a43541bd"/>
          <a:stretch xmlns:a="http://schemas.openxmlformats.org/drawingml/2006/main"/>
        </p:blipFill>
        <p:spPr>
          <a:xfrm xmlns:a="http://schemas.openxmlformats.org/drawingml/2006/main">
            <a:off x="769144" y="590550"/>
            <a:ext cx="1357313" cy="904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5FD3E-27DC-4293-9B41-A3031A8E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SYSTEM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268FC-D27E-42C8-A0F3-A65016B9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ACE Clock In / 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2AD37-2F46-42A4-8B55-1B0660EF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4E2E7"/>
                </a:solidFill>
                <a:latin typeface="Open Sans"/>
                <a:ea typeface="Open Sans"/>
                <a:cs typeface="Open Sans"/>
              </a:defRPr>
            </a:pPr>
            <a:r>
              <a:rPr sz="1875" b="0">
                <a:solidFill>
                  <a:srgbClr val="C4E2E7"/>
                </a:solidFill>
                <a:latin typeface="Open Sans"/>
                <a:ea typeface="Open Sans"/>
                <a:cs typeface="Open Sans"/>
              </a:rPr>
              <a:t>How the workforce time tracking platform works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B6276-A5C3-4F95-9076-DAD7545B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9B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C56D0-E8BC-47C2-A358-B8ABE398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4E2E7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C4E2E7"/>
                </a:solidFill>
                <a:latin typeface="Open Sans"/>
                <a:ea typeface="Open Sans"/>
                <a:cs typeface="Open Sans"/>
              </a:rPr>
              <a:t>Frontend, API, authentication, data model, reports, and operational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1407E-7EF5-4B48-94C9-6ABE91DF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ACE Outsource Solutions</a:t>
            </a:r>
          </a:p>
        </p:txBody>
      </p:sp>
    </p:spTree>
    <p:extLst>
      <p:ext uri="{BB962C8B-B14F-4D97-AF65-F5344CB8AC3E}">
        <p14:creationId xmlns:p14="http://schemas.microsoft.com/office/powerpoint/2010/main" val="19308338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F5AB54-9C03-45A4-9AC9-E0900254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What the platform covers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A46BE-3C8B-4A2A-8065-8208A6CF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 single internal workspace for employees and administrators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26553-53EB-4FAB-9D8A-B6D58D57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0a7190f8848c9"/>
          <a:stretch xmlns:a="http://schemas.openxmlformats.org/drawingml/2006/main"/>
        </p:blipFill>
        <p:spPr>
          <a:xfrm xmlns:a="http://schemas.openxmlformats.org/drawingml/2006/main">
            <a:off x="10728953" y="323850"/>
            <a:ext cx="687719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2FB08-17FA-4106-AB77-04B9924A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E4E81-21E3-47CB-9306-133807AA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C5A75-B745-43F3-858A-68112EB3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HTML pages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F8AB5-745A-4DA8-86C7-4682778F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145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7EE69-6F53-492C-9C82-3EBB5A7C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621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API routes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2D04E-34F1-4E96-A1CF-9BF33F4D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14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B1329-8E0F-42F8-AAAB-370217A9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621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database table definitions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34766-B8E8-45E6-9471-D281B4CE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145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E2CEA-19D7-405C-91DF-96B0B5C5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621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role experiences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B7A6F-0CD3-447F-925F-E11FEB9C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A3165-6703-4BD7-9FAE-E33CE996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Employee workspace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E20D7-14B6-4F75-8690-77B72D3C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97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72E6C-A991-48E4-82B4-9C4D0CA3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Clock in and 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67592E-487E-4444-AA50-EBD84850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Review personal entries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EB5D7-4C80-4CBB-9F6D-4BC36747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Read administrator remarks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097B9-C6F5-4262-990E-E8423EE2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Message active employees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886C2E-4E66-401F-92F2-3300FBB6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Administrator 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9700F7-0B78-4B83-8AC7-C862056E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4BD03-212F-4555-B447-7289DBD7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495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Monitor team activity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D09B94-F5E2-460E-8C6E-C7DA23A0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0025"/>
            <a:ext cx="495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Manage access and assignments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52035E-7CF2-4238-807B-AF9B1A9F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495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Review, remark, archive, and restore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546FF1-A7C6-4C95-B6A4-EC614BBC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29175"/>
            <a:ext cx="495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Generate reports and inspect audit history</a:t>
            </a:r>
          </a:p>
        </p:txBody>
      </p:sp>
    </p:spTree>
    <p:extLst>
      <p:ext uri="{BB962C8B-B14F-4D97-AF65-F5344CB8AC3E}">
        <p14:creationId xmlns:p14="http://schemas.microsoft.com/office/powerpoint/2010/main" val="6791863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DC8C91-2DE8-4256-BF9F-48443428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End-to-end operating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C6928-BA36-4C70-9B15-77E0D449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From account access to an auditable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6D46F-EAE6-48E6-970D-2C52E505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5386dfeb04713"/>
          <a:stretch xmlns:a="http://schemas.openxmlformats.org/drawingml/2006/main"/>
        </p:blipFill>
        <p:spPr>
          <a:xfrm xmlns:a="http://schemas.openxmlformats.org/drawingml/2006/main">
            <a:off x="10728953" y="323850"/>
            <a:ext cx="687719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B4BFC-5B40-4A29-BF94-21CC2907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84C6C-88C5-49DA-9143-F3859023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38375"/>
            <a:ext cx="163830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40C88-AABA-4D66-8BA8-B7BE6916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38375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4D095-5CB0-4958-8C7E-679A08A9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996FF-1D91-48F8-A20D-E76E7CA4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05BDB-D6E6-4BD6-88A0-1659942D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27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Invitation or Google access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7DA24-3982-4447-A0D1-914612FF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384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184AA-0CDC-40DB-8D73-EA340E5E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38375"/>
            <a:ext cx="163830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4CC5A-F858-438D-8BA3-3921ECAB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38375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E7769-A7AE-42FD-AA61-1F2C8BBF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90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931AC-2368-49DB-85CF-ECECEED1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3842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Authenticate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82F19-32E8-4D52-8120-F6423DD9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71800"/>
            <a:ext cx="127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Supabase verifies the Google session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2B8C9F-8D5C-453E-A8E7-BDC18BC1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384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819D96-1C2F-4810-95CA-002503EF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38375"/>
            <a:ext cx="163830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D2557-4B5B-471F-B0B6-5AFC9AF6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38375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A972E-F323-4B1A-9B3C-47353D85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F5E864-DD60-48C1-AD85-53CE1119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3842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Authorize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FD474-4E64-4508-9B0B-4838EA21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71800"/>
            <a:ext cx="127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Role and status determine the workspace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526D2A-E167-42E6-BC1A-DDF5AED3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384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39264D-6510-4F08-9C2D-D9D7D10A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163830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5E7BF8-06E2-44EB-A8C2-9F87A605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C6367B-8666-48BE-84BC-4003E3EB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90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E558DE-A031-4C5B-8823-355A5927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3842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Track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0631E5-D686-4B95-8BEB-54D8FC44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71800"/>
            <a:ext cx="127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Employee opens and completes time entries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AE741B-599A-4640-9DD3-37D5EF5C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5BB92B-964F-4FA5-89DF-96E30C24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38375"/>
            <a:ext cx="163830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7BD640-6444-4331-84E8-F9E9CC7D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38375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2EBF63-2B7F-46B0-B65A-E900A2BD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90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12ED9F-933A-4C78-8BA2-E118122D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3842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B52906-25BA-4704-ADCE-FD6E214B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71800"/>
            <a:ext cx="127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Administrators manage records and remarks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4355B1-A8D0-4C2E-ADD6-12A7F8B4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384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007898-2013-48E2-A6E3-1EF47C48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38375"/>
            <a:ext cx="1638300" cy="14287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DE8264-F1FE-4C87-96B6-95F87F1C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38375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4EEDC4-CF7F-4809-A5C9-02656D10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907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AC6874-4F2E-4603-B002-8A048FB0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38425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Report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838D28-8F08-41D6-B04A-B99C3247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971800"/>
            <a:ext cx="127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Filtered PDF output and export history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1A6B24-DB9B-49EA-86F6-C1093335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Every protected action passes through the API. Important changes create an audit event.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AD1321-F16F-417B-B948-3CD3883C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The same flow supports an invited employee, a pending access request, or an administrator account.</a:t>
            </a:r>
          </a:p>
        </p:txBody>
      </p:sp>
    </p:spTree>
    <p:extLst>
      <p:ext uri="{BB962C8B-B14F-4D97-AF65-F5344CB8AC3E}">
        <p14:creationId xmlns:p14="http://schemas.microsoft.com/office/powerpoint/2010/main" val="17097770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3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30C59-A728-4595-A241-9B94AB1A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Sign-in and access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8EA8A-74FF-4CEB-B609-1EB21250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The current interface uses Google authentication through Supabase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27FD2-3FD7-41DF-880F-99958C39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57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095c229e9428f"/>
          <a:stretch xmlns:a="http://schemas.openxmlformats.org/drawingml/2006/main"/>
        </p:blipFill>
        <p:spPr>
          <a:xfrm xmlns:a="http://schemas.openxmlformats.org/drawingml/2006/main">
            <a:off x="10701338" y="323850"/>
            <a:ext cx="74295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8A1A3-61DF-4D60-B555-1C3B4F49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D7D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A9D7DF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9d7ca82384886"/>
          <a:srcRect xmlns:a="http://schemas.openxmlformats.org/drawingml/2006/main" l="9690" t="0" r="96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95450"/>
            <a:ext cx="4953000" cy="4095750"/>
          </a:xfrm>
          <a:prstGeom xmlns:a="http://schemas.openxmlformats.org/drawingml/2006/main" prst="roundRect">
            <a:avLst>
              <a:gd name="adj" fmla="val 418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4B729-A971-460F-A521-FE703BAF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9530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032C3B">
              <a:alpha val="72157"/>
            </a:srgbClr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5194A-131F-4A3E-881E-D96C266B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Google session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F51C1-3918-4A1C-90C6-2003E8B1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371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4E2E7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C4E2E7"/>
                </a:solidFill>
                <a:latin typeface="Open Sans"/>
                <a:ea typeface="Open Sans"/>
                <a:cs typeface="Open Sans"/>
              </a:rPr>
              <a:t>The browser receives a Supabase session and sends its bearer token to the Render API.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1767E-2767-439F-AC6F-97F731C0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47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C195D-5DCF-4FF4-A16D-01416564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Invited 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3EFB4-7189-4F6B-B51A-345E9723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The profile activates automatically when the invitation is valid.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89464-5354-4C14-93F0-73E24402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480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547D6-A1BC-4262-B56A-E668B338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908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Uninvited account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D05AA-4E85-41BA-A360-F59FE0FC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The profile remains pending and can submit a two-minute access request.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E8E83-11BC-4728-8C32-B5FB720F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4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BCA83-EA00-41F5-A1A0-0984332F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Administrator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9B3F39-1D1C-4C36-9BD2-9DD9C7E9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339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Approval sets the role, department, and ACTIVE status.</a:t>
            </a:r>
          </a:p>
        </p:txBody>
      </p:sp>
    </p:spTree>
    <p:extLst>
      <p:ext uri="{BB962C8B-B14F-4D97-AF65-F5344CB8AC3E}">
        <p14:creationId xmlns:p14="http://schemas.microsoft.com/office/powerpoint/2010/main" val="6426848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CEFB3D-9588-4847-AB03-907F0412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Employee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B7A87-BB02-4954-90A8-9810615B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 focused view of the current shift and personal work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EAB60-9898-48BC-8822-04EEA531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19b7e28304f8a"/>
          <a:stretch xmlns:a="http://schemas.openxmlformats.org/drawingml/2006/main"/>
        </p:blipFill>
        <p:spPr>
          <a:xfrm xmlns:a="http://schemas.openxmlformats.org/drawingml/2006/main">
            <a:off x="10728953" y="323850"/>
            <a:ext cx="687719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5E80C-6283-45FB-B728-4D45D1B9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35CEF-ABB2-40A9-BAFC-4360ED4C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20b1966ae4901">
            <a:extLst>
              <a:ext uri="{96DAC541-7B7A-43D3-8B79-37D633B846F1}">
                <asvg:svgBlip xmlns:asvg="http://schemas.microsoft.com/office/drawing/2016/SVG/main" r:embed="R086ba78625fb4e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2475" y="18192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48A56-199E-4932-B95B-FBDEE100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954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Current shift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37D38-3F55-4150-AAD0-1C39C30E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574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Live clock, active status, clock-in time, and running duration.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DD906-E168-40CF-B70E-D6D5D7CF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12895de3a4ccd">
            <a:extLst>
              <a:ext uri="{96DAC541-7B7A-43D3-8B79-37D633B846F1}">
                <asvg:svgBlip xmlns:asvg="http://schemas.microsoft.com/office/drawing/2016/SVG/main" r:embed="Rd53569428d5540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2475" y="29622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2F6B3-8CC2-45D0-BB99-BE5E8D5A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84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Time at a glance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096CD-AB7C-44AA-8896-DBB8A03E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Completed hours for today, the week, the month, and the total number of entries.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DC45F-C813-4F9E-A5EA-3DFA510C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c7c5ad1f241c4">
            <a:extLst>
              <a:ext uri="{96DAC541-7B7A-43D3-8B79-37D633B846F1}">
                <asvg:svgBlip xmlns:asvg="http://schemas.microsoft.com/office/drawing/2016/SVG/main" r:embed="R5a8ed04e358247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2475" y="42767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3F45D-DC73-4F0E-A44C-565ABCF0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529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Assigned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4EE9B-9A5A-4ECD-B465-870EB4D8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Projects appear as optional choices when the employee starts a session.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D3C51-A3F3-42EB-B9BB-9BBFDDA5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5143500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63B4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8E857-4634-4E36-BE9B-CAA5197D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READY WHEN YOU 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53211-D5F2-4C0A-B787-5F7324EA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9:02:14 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92CAB3-3E13-43AE-9F06-EB41598B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99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125" b="1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Not clocked 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184F5C-9939-4101-AC14-73262724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62375"/>
            <a:ext cx="19621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9288A6-F09F-4A29-9166-F547497D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6237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Clock 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BC0C48-BCFC-4748-8779-E08CEE28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2437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Recent activity, administrator remarks, and projects continue below the shift area.</a:t>
            </a:r>
          </a:p>
        </p:txBody>
      </p:sp>
    </p:spTree>
    <p:extLst>
      <p:ext uri="{BB962C8B-B14F-4D97-AF65-F5344CB8AC3E}">
        <p14:creationId xmlns:p14="http://schemas.microsoft.com/office/powerpoint/2010/main" val="7213004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D4F540-F170-41D1-84EB-D3D483E2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Clock-in and clock-out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34B0D-9182-4011-A69F-7CDB36A0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The database keeps one open entry per employee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C018A-2310-4891-BD81-F87969B5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47fc723da4d86"/>
          <a:stretch xmlns:a="http://schemas.openxmlformats.org/drawingml/2006/main"/>
        </p:blipFill>
        <p:spPr>
          <a:xfrm xmlns:a="http://schemas.openxmlformats.org/drawingml/2006/main">
            <a:off x="10728953" y="323850"/>
            <a:ext cx="687719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7CA8E-AE6C-484A-B3BE-0A0AEC37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E92B2-D0E1-404C-A5B7-C468CA0D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2190750" cy="1676400"/>
          </a:xfrm>
          <a:prstGeom xmlns:a="http://schemas.openxmlformats.org/drawingml/2006/main" prst="roundRect">
            <a:avLst>
              <a:gd name="adj" fmla="val 73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F93F3-B385-42AF-A913-30A135BD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66675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A4FFC-5488-4925-B2E7-BA979591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BDE99-DF26-4F10-8A53-F1CDD0D2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Choose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8188A-63F4-4EAA-A023-047122E8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52725"/>
            <a:ext cx="1828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Select an optional project and add an optional starting note.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41613-0C11-47EE-BB19-D2D06895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4191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A75BE-2504-4A8C-9837-E5C6FF35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19300"/>
            <a:ext cx="2190750" cy="1676400"/>
          </a:xfrm>
          <a:prstGeom xmlns:a="http://schemas.openxmlformats.org/drawingml/2006/main" prst="roundRect">
            <a:avLst>
              <a:gd name="adj" fmla="val 73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C0574-F3A9-4BDB-AB54-A995C4E0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19300"/>
            <a:ext cx="66675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2D898-AA69-4913-B03E-357F0B7F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71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5F8D5-8C27-4471-9515-511E83BC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Start timer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7662E-BC4D-4346-86FE-14A90954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52725"/>
            <a:ext cx="1828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The API checks for an existing open entry, records the device, and writes CLOCK_IN.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3999D6-1FDE-4E0D-9DBD-326DDE05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24150"/>
            <a:ext cx="4191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D66D7-CA45-4416-895A-35A9C33E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19300"/>
            <a:ext cx="2190750" cy="1676400"/>
          </a:xfrm>
          <a:prstGeom xmlns:a="http://schemas.openxmlformats.org/drawingml/2006/main" prst="roundRect">
            <a:avLst>
              <a:gd name="adj" fmla="val 73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0B2AB-8700-4B84-9886-96351A34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19300"/>
            <a:ext cx="66675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B07210-5C8C-424F-9CE0-64DB9FDD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C2BD0E-5F08-4E95-A59F-8026B873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Track session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7C8A74-95CE-4037-A4F5-C947E157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52725"/>
            <a:ext cx="1828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The frontend timer continues from the server timestamp. Presence heartbeat updates last seen.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642AD-AC4F-4636-A181-518A447A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24150"/>
            <a:ext cx="4191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3E9928-5C73-4669-BE2E-5CF8B0AD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19300"/>
            <a:ext cx="2190750" cy="1676400"/>
          </a:xfrm>
          <a:prstGeom xmlns:a="http://schemas.openxmlformats.org/drawingml/2006/main" prst="roundRect">
            <a:avLst>
              <a:gd name="adj" fmla="val 73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EF6159-A987-4E09-B8FC-D7EB358B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19300"/>
            <a:ext cx="66675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AE470C-AAE8-4805-BA81-B2744184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71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D0730C-D34B-4224-9BAC-21AFEBDA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Complete entry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FEDEE4-1DBE-4F8F-A053-C2593AA2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52725"/>
            <a:ext cx="1828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Clock-out requires a note. PostgreSQL calculates duration from the two timestamps.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337614-3D44-426A-BA1F-90CB446C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Database guard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81AE0C-D86D-45BF-ABD5-F9B42259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 partial unique index prevents a second open entry for the same user.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AB79C8-BF49-4422-916E-136B0F4E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Traceability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D796BD-BE1C-477B-8526-9D4581BE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5772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Clock events record whether the action came from mobile or PC web.</a:t>
            </a:r>
          </a:p>
        </p:txBody>
      </p:sp>
    </p:spTree>
    <p:extLst>
      <p:ext uri="{BB962C8B-B14F-4D97-AF65-F5344CB8AC3E}">
        <p14:creationId xmlns:p14="http://schemas.microsoft.com/office/powerpoint/2010/main" val="10986807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3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420671-193C-4D49-B505-75633C5B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Employee records and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32452-1333-40D2-92DA-FB0275FF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Employees see their own time, remarks, and active coworkers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BB9EF-70E0-4D1E-B5C7-FF9AADBC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574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02aab9e364e72"/>
          <a:stretch xmlns:a="http://schemas.openxmlformats.org/drawingml/2006/main"/>
        </p:blipFill>
        <p:spPr>
          <a:xfrm xmlns:a="http://schemas.openxmlformats.org/drawingml/2006/main">
            <a:off x="10701338" y="323850"/>
            <a:ext cx="74295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DD7FA-B0BD-4F3E-A167-60D6D6D2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D7D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A9D7DF"/>
                </a:solidFill>
                <a:latin typeface="Montserrat"/>
                <a:ea typeface="Montserrat"/>
                <a:cs typeface="Montserrat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51D25-ADDE-4496-BF97-1F672157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c585e6ba644c3">
            <a:extLst>
              <a:ext uri="{96DAC541-7B7A-43D3-8B79-37D633B846F1}">
                <asvg:svgBlip xmlns:asvg="http://schemas.microsoft.com/office/drawing/2016/SVG/main" r:embed="R45f953581ace42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4375" y="18764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60C5E-F019-4A51-9380-2244C79F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Personal entries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F92F0-4F9E-461E-9B55-9925FA9D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Date, project, status, duration, note, and administrator remarks.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B5F17-56B8-44E5-9F64-D9487EB3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B8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096D3-9AFE-4B44-B69B-573F288D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05b7379524c43">
            <a:extLst>
              <a:ext uri="{96DAC541-7B7A-43D3-8B79-37D633B846F1}">
                <asvg:svgBlip xmlns:asvg="http://schemas.microsoft.com/office/drawing/2016/SVG/main" r:embed="R1dafcf377aaa40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43425" y="18764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7A845-CA6C-4DAA-A643-02AE5394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Employee chat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2FAFB-A312-492B-90D8-C066C6B2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Active employees can send, edit, read, and soft-delete direct messages.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52BF6-6464-40A4-8CEC-C82C36E1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9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C4DB7-0D86-4622-B2E8-857B6D32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95992813e4d6a">
            <a:extLst>
              <a:ext uri="{96DAC541-7B7A-43D3-8B79-37D633B846F1}">
                <asvg:svgBlip xmlns:asvg="http://schemas.microsoft.com/office/drawing/2016/SVG/main" r:embed="R4902797664984e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72475" y="18764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72319F-260B-42AF-9AB0-B151FD62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Planned end 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8EA30-40EB-454A-B6D9-03B3823D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956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The data model supports a planned session end for scheduled clock-out work.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C2ACF3-AE91-4F86-8BEF-0EE82B67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71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B8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270D23-6ABD-4EA3-8770-59B80513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Privacy 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AB4EC8-50F6-4D0D-BED6-222E3E9F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4E2E7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C4E2E7"/>
                </a:solidFill>
                <a:latin typeface="Open Sans"/>
                <a:ea typeface="Open Sans"/>
                <a:cs typeface="Open Sans"/>
              </a:rPr>
              <a:t>Employees can only open conversations with other ACTIVE employees. The browser has no direct table policy for messages.</a:t>
            </a:r>
          </a:p>
        </p:txBody>
      </p:sp>
    </p:spTree>
    <p:extLst>
      <p:ext uri="{BB962C8B-B14F-4D97-AF65-F5344CB8AC3E}">
        <p14:creationId xmlns:p14="http://schemas.microsoft.com/office/powerpoint/2010/main" val="2484589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25E4C9-79BC-4F61-9E37-AD20B519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Administrator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10F83-8C47-4F60-90E9-55FCECE1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Team activity and decisions share one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D0A92-B011-40D0-A365-D9FAF66F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bcf1f0122454f"/>
          <a:stretch xmlns:a="http://schemas.openxmlformats.org/drawingml/2006/main"/>
        </p:blipFill>
        <p:spPr>
          <a:xfrm xmlns:a="http://schemas.openxmlformats.org/drawingml/2006/main">
            <a:off x="10728953" y="323850"/>
            <a:ext cx="687719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D0B9A-5834-4082-9CF5-A38DDE2E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64C7B-172D-45E7-ABD7-251850BF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Team performance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535D5-FF96-42A5-A29E-7A0966BB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Date range, department, project, and employee filters drive the analytics view and its report output.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03339-9ABA-4A0F-898C-B73B455A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304800" cy="78105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C2962-808D-48B0-8828-34D6886A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BBF51-E407-4022-ACC3-7FE1B6EE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304800" cy="5334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0FAD0-B28D-4910-A632-877552DE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00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93999-C07E-4FCE-9C99-B3A16F56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48050"/>
            <a:ext cx="304800" cy="8763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D96BC-9BB5-49F2-9958-55713433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00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C622D1-C655-4D70-8CF0-6EA15D9A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76650"/>
            <a:ext cx="304800" cy="6477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E27AD-CA07-437C-B61A-C5881B5B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00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CB6C2-99F1-40D1-A44E-A15A0C22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62400"/>
            <a:ext cx="304800" cy="36195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E6BBB-F641-4BDF-80B6-9B780476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00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C424F2-2A59-4421-ABDC-EBED9B72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00450"/>
            <a:ext cx="304800" cy="7239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A8817-1284-4123-8627-5D1BD94E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00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FBC920-AE19-4A46-A5A2-03833038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33800"/>
            <a:ext cx="304800" cy="59055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8AB00C-D258-4304-B954-320EB50F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00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A2BCE1-7F2A-4151-B436-0629EA52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384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5C2E76-0B25-4481-9D77-04B5D419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Weekly tracked hours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1778AE-7476-46E7-A374-E1205E50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90700"/>
            <a:ext cx="47625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ee4ea1c7b4861">
            <a:extLst>
              <a:ext uri="{96DAC541-7B7A-43D3-8B79-37D633B846F1}">
                <asvg:svgBlip xmlns:asvg="http://schemas.microsoft.com/office/drawing/2016/SVG/main" r:embed="Rbb838958e3f949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95975" y="1857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1B37EA-B679-4CD9-BA1B-25473AEC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People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D7990E-D1B2-4E76-B8DD-B6ADE0C7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Total users, active now, and pending approvals.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3D9590-51D3-41FD-BEDB-41A11606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52750"/>
            <a:ext cx="47625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99e0310174b71">
            <a:extLst>
              <a:ext uri="{96DAC541-7B7A-43D3-8B79-37D633B846F1}">
                <asvg:svgBlip xmlns:asvg="http://schemas.microsoft.com/office/drawing/2016/SVG/main" r:embed="Rfd60676b35ab45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95975" y="30194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A7C0C0-1794-4616-94E3-5B062E90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Work allocation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228EED-3CAB-452B-9916-62B87CC1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Project mix and team activity support operational review.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8C282D-7505-49B8-8AEB-E4CE5BE8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14800"/>
            <a:ext cx="47625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3caf9f07e4d11">
            <a:extLst>
              <a:ext uri="{96DAC541-7B7A-43D3-8B79-37D633B846F1}">
                <asvg:svgBlip xmlns:asvg="http://schemas.microsoft.com/office/drawing/2016/SVG/main" r:embed="R2363b2be117444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95975" y="41814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6CFB4F-FCB5-42D9-B99B-2A54C7B1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767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Report handoff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C9116B-2AD3-4989-8AD9-5E50216B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The same filter state can generate a TEAM_PERFORMANCE report.</a:t>
            </a:r>
          </a:p>
        </p:txBody>
      </p:sp>
    </p:spTree>
    <p:extLst>
      <p:ext uri="{BB962C8B-B14F-4D97-AF65-F5344CB8AC3E}">
        <p14:creationId xmlns:p14="http://schemas.microsoft.com/office/powerpoint/2010/main" val="12055708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62373A-BACB-47E6-9C74-FA06E1B1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People and access administration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264E0-C11D-4025-BF2B-7876551C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Administrators control account status, role, department, and projects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607F7-76DC-4E6D-803F-47394CA6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5d7dd2ee54b84"/>
          <a:stretch xmlns:a="http://schemas.openxmlformats.org/drawingml/2006/main"/>
        </p:blipFill>
        <p:spPr>
          <a:xfrm xmlns:a="http://schemas.openxmlformats.org/drawingml/2006/main">
            <a:off x="10728953" y="323850"/>
            <a:ext cx="687719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E2F40-CBA8-4C84-B8D8-960FAB0C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A5266-C765-4444-A824-B32DC1F3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2000250" cy="1524000"/>
          </a:xfrm>
          <a:prstGeom xmlns:a="http://schemas.openxmlformats.org/drawingml/2006/main" prst="roundRect">
            <a:avLst>
              <a:gd name="adj" fmla="val 8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865CB-8B66-432E-9780-9E1F7919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D4D59-72E9-43B5-A336-C41C8C03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DFC89-D6C9-4338-99BD-3E0D5EDD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Pre-authorize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E81D5-7E5B-4B2F-BB8C-9F89B834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Invite an email and choose employee or administrator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529FC-5312-4665-8DFE-E1AD1BFF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908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00FC7-F6B2-4445-86C6-94BBC50A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24050"/>
            <a:ext cx="2000250" cy="1524000"/>
          </a:xfrm>
          <a:prstGeom xmlns:a="http://schemas.openxmlformats.org/drawingml/2006/main" prst="roundRect">
            <a:avLst>
              <a:gd name="adj" fmla="val 8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DB5AA-59F6-48C5-8FCC-0CCAE8F5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24050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104E4-A996-4D57-BF9E-BD380DB0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764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893A7-8608-4EB5-928A-1C9DCBC1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241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Approve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6454A-8EDD-45A9-A997-BB45C9C1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574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Review pending Google access requests before they expire.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65DB1-6C02-423B-97BA-B0BBFABF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908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D3E2E0-19EE-47C0-AA04-4D4ECE98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2000250" cy="1524000"/>
          </a:xfrm>
          <a:prstGeom xmlns:a="http://schemas.openxmlformats.org/drawingml/2006/main" prst="roundRect">
            <a:avLst>
              <a:gd name="adj" fmla="val 8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28E031-FC4E-4CA3-98C1-5D8D377D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F00D0-4D2D-46E8-8CBE-61034C00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764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F6A9E-2E80-40D9-BEAB-972397DB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241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Assign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F25533-549A-4E5B-A591-C2F047E2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57475"/>
            <a:ext cx="1638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Set the department and add any number of project assignments.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A0293-B253-4636-B409-A88A069A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908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FE8EE8-42DA-4E9B-B6CD-641D91BE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028950" cy="1524000"/>
          </a:xfrm>
          <a:prstGeom xmlns:a="http://schemas.openxmlformats.org/drawingml/2006/main" prst="roundRect">
            <a:avLst>
              <a:gd name="adj" fmla="val 8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72691-8B26-41ED-AC93-334EDECE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6667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1212EF-4058-4265-88C8-2B73342E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58A3E2-F631-4965-8B29-ED2659E9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Maintain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DE22EE-EC35-4BFE-B2E5-ADFC9855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57475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Change role, archive access, restore the account, or permanently remove login.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7D06ED-FB5D-4639-9468-46736D07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2173BC-6FB6-47DA-9AD1-132E5DCC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Safeguards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B7250E-EBAC-448D-B077-D12A506B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An administrator cannot remove their own account. The system also prevents demoting or archiving the last active administrator.</a:t>
            </a:r>
          </a:p>
        </p:txBody>
      </p:sp>
    </p:spTree>
    <p:extLst>
      <p:ext uri="{BB962C8B-B14F-4D97-AF65-F5344CB8AC3E}">
        <p14:creationId xmlns:p14="http://schemas.microsoft.com/office/powerpoint/2010/main" val="16715495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3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A0E445-CA82-47DA-A47A-6544F769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Departments and projects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2B3DF-6105-4AF8-8E2E-2C108EDB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Department membership stays optional while project assignment supports many-to-many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71F1A-839C-4936-AA2A-1B417117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574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7f07daa8340b5"/>
          <a:stretch xmlns:a="http://schemas.openxmlformats.org/drawingml/2006/main"/>
        </p:blipFill>
        <p:spPr>
          <a:xfrm xmlns:a="http://schemas.openxmlformats.org/drawingml/2006/main">
            <a:off x="10701338" y="323850"/>
            <a:ext cx="74295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7A165-9F1C-405D-BCA7-55A50208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D7D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A9D7DF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EC43D-4996-478D-B5CD-CFC8D30C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2428875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5263"/>
          </a:solidFill>
          <a:ln xmlns:a="http://schemas.openxmlformats.org/drawingml/2006/main" w="9525">
            <a:solidFill>
              <a:srgbClr val="2E718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2128D-9FDD-41EC-B3EC-DBBD95DD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DEPARTMENT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202AA-36A6-42AB-91DD-23E9EB0D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CCB57-FB3A-4956-937B-0914A7DD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Optional on each profile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521D3-C807-498E-AF0E-A3455C21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790700"/>
            <a:ext cx="25717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F1C49-878D-43B4-BF9E-37E75DB9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00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EMPLOYEE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48678-1AAF-4EA5-938F-7333B012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241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Profile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668B0-26DC-4625-8ED2-44C3AF59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00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Role · Status · Last seen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3067D-136A-4DC8-AE4F-4C661E3F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24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No department is valid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40974-6C6A-436D-8AC0-CF2809A9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81200"/>
            <a:ext cx="2428875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4D78"/>
          </a:solidFill>
          <a:ln xmlns:a="http://schemas.openxmlformats.org/drawingml/2006/main" w="9525">
            <a:solidFill>
              <a:srgbClr val="326F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ACCC6-C523-4E11-8039-85525B53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1526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D8FF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A9D8FF"/>
                </a:solidFill>
                <a:latin typeface="Montserrat"/>
                <a:ea typeface="Montserrat"/>
                <a:cs typeface="Montserrat"/>
              </a:rPr>
              <a:t>PROJECTS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E35A4-3B9E-4004-A610-92B940CB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574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Multiple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48DFD3-23CC-47E5-A2F8-4E4A8B02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14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E1F7"/>
                </a:solidFill>
                <a:latin typeface="Open Sans"/>
                <a:ea typeface="Open Sans"/>
                <a:cs typeface="Open Sans"/>
              </a:defRPr>
            </a:pPr>
            <a:r>
              <a:rPr sz="1050" b="0">
                <a:solidFill>
                  <a:srgbClr val="C9E1F7"/>
                </a:solidFill>
                <a:latin typeface="Open Sans"/>
                <a:ea typeface="Open Sans"/>
                <a:cs typeface="Open Sans"/>
              </a:rPr>
              <a:t>Optional per time entry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BEF2FD-2863-4A11-A0DA-016092DB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24125"/>
            <a:ext cx="952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B8D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1F8F2-CD0D-43E8-8FE3-AFC837EC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24125"/>
            <a:ext cx="952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BB05D2-A64D-412E-96CF-FDB3F30D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Department assignment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4A0172-E857-4B85-B03E-707495E5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One profile can belong to zero or one department.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37A8A3-B86D-46D8-9521-A823FECD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9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Project assignment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F2F17-2466-432B-B923-5C2F48D8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577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The user_projects join table connects employees to any number of projects.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B89F03-6670-4288-AB2C-64DCC989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95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9D8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A9D8FF"/>
                </a:solidFill>
                <a:latin typeface="Montserrat"/>
                <a:ea typeface="Montserrat"/>
                <a:cs typeface="Montserrat"/>
              </a:rPr>
              <a:t>Recorded work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80CB45-21EF-48EE-8849-E7AE32F0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577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E1F7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C9E1F7"/>
                </a:solidFill>
                <a:latin typeface="Open Sans"/>
                <a:ea typeface="Open Sans"/>
                <a:cs typeface="Open Sans"/>
              </a:rPr>
              <a:t>Each time entry can reference one project or remain unassigned.</a:t>
            </a:r>
          </a:p>
        </p:txBody>
      </p:sp>
    </p:spTree>
    <p:extLst>
      <p:ext uri="{BB962C8B-B14F-4D97-AF65-F5344CB8AC3E}">
        <p14:creationId xmlns:p14="http://schemas.microsoft.com/office/powerpoint/2010/main" val="20134276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839C0D-0A33-4AFB-A31A-9240BEBE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Time review, remarks, and deleted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E143C-DFDC-4B27-830C-CE155430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Operational corrections stay recoverable until an administrator chooses permanent deletion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B86E3-BA41-401F-830B-8241F113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1394f01964151"/>
          <a:stretch xmlns:a="http://schemas.openxmlformats.org/drawingml/2006/main"/>
        </p:blipFill>
        <p:spPr>
          <a:xfrm xmlns:a="http://schemas.openxmlformats.org/drawingml/2006/main">
            <a:off x="10728953" y="323850"/>
            <a:ext cx="687719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4FC77-372E-4468-9C06-A786AB39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0B049-8B7B-4805-9FA0-29A627A4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47625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8153f84d04d0e">
            <a:extLst>
              <a:ext uri="{96DAC541-7B7A-43D3-8B79-37D633B846F1}">
                <asvg:svgBlip xmlns:asvg="http://schemas.microsoft.com/office/drawing/2016/SVG/main" r:embed="R570ffe2a29a74c2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9625" y="1914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72925-28EA-4EA1-A098-0A7261DF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09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70CA2-417C-4479-80E1-DD40622E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907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Administrators inspect employee, project, timestamps, duration, note, and status.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DDCA8-C8EE-4B60-A526-F84FBC9A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7625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886d18f8b48c9">
            <a:extLst>
              <a:ext uri="{96DAC541-7B7A-43D3-8B79-37D633B846F1}">
                <asvg:svgBlip xmlns:asvg="http://schemas.microsoft.com/office/drawing/2016/SVG/main" r:embed="R0ffbefc5c7704b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9625" y="32099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29BBC-B7D1-4F99-82E2-DA286C27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05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Remark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6BDEC-B2D3-46B5-8735-6D5DF2F8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8615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Administrator remarks remain separate from the employee clock-out note.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CB607-237E-42D4-AF0D-418AE836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7625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0aa4dd4d14a45">
            <a:extLst>
              <a:ext uri="{96DAC541-7B7A-43D3-8B79-37D633B846F1}">
                <asvg:svgBlip xmlns:asvg="http://schemas.microsoft.com/office/drawing/2016/SVG/main" r:embed="R215f9304e9b247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9625" y="45053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92972C-47EB-44FD-97F6-3D25F8AF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Archive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E83EA-20AE-49EC-9AD3-4A8C3249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81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Soft deletion removes an entry from dashboards and reports while preserving recovery.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36D76-DFBD-45BA-8DB9-3A6C1ACF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43815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F5F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C95A52-90D4-4546-B0F9-A2BD8B02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526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Deleted time entry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7BBE4-0A5E-4E14-AF36-734C2536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Restore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6B2734-728A-474A-BCC3-B447AE33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Returns the entry to normal views.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EE071B-95CD-4A10-8BC1-43BED6B9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719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4AFD43-F7EF-4E69-811D-806466CC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Delete permanently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0753C8-8EFB-47AE-93B7-B202E3CC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Allowed only after the entry has been archived.</a:t>
            </a:r>
          </a:p>
        </p:txBody>
      </p:sp>
    </p:spTree>
    <p:extLst>
      <p:ext uri="{BB962C8B-B14F-4D97-AF65-F5344CB8AC3E}">
        <p14:creationId xmlns:p14="http://schemas.microsoft.com/office/powerpoint/2010/main" val="15902723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036524-F2BE-42BA-8160-D8FDD137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Reports and PDF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9F691-B537-4EC0-AA44-2314A81D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Admin filters produce a stored report record and a print-ready chart document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7588C-65AB-4ACF-85CF-BBFDC91D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dc45788bb46c4"/>
          <a:stretch xmlns:a="http://schemas.openxmlformats.org/drawingml/2006/main"/>
        </p:blipFill>
        <p:spPr>
          <a:xfrm xmlns:a="http://schemas.openxmlformats.org/drawingml/2006/main">
            <a:off x="10728953" y="323850"/>
            <a:ext cx="687719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F3306-436D-4C78-812B-CDF504A8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DD033-7127-4283-B58B-A4A733F7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98411288b4d55">
            <a:extLst>
              <a:ext uri="{96DAC541-7B7A-43D3-8B79-37D633B846F1}">
                <asvg:svgBlip xmlns:asvg="http://schemas.microsoft.com/office/drawing/2016/SVG/main" r:embed="Rfa2c081ff7fb40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1025" y="19526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C228B-F98F-4DE6-A975-762AACDD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7AFFE-3A4C-4CB6-ABD3-C7CB4D8F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Date range, department, project, or employee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2A95A-B5DE-4B8B-9BCD-EBF1333C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19375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D48FB-5039-41BF-A62E-41D2DDCF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8595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32b13ec6d444c">
            <a:extLst>
              <a:ext uri="{96DAC541-7B7A-43D3-8B79-37D633B846F1}">
                <asvg:svgBlip xmlns:asvg="http://schemas.microsoft.com/office/drawing/2016/SVG/main" r:embed="R8046701e920549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76625" y="19526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88EEF-6545-4C35-BA50-50C2CC44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Analyze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85BB1-C86F-4E35-9B9B-0521AFC0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765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Daily hours, project allocation, totals, and averages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8E222-0DAC-446F-A2D5-2FA9C26A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5FDD1-D7F2-4BBA-98D4-31528E31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a06a287d1467b">
            <a:extLst>
              <a:ext uri="{96DAC541-7B7A-43D3-8B79-37D633B846F1}">
                <asvg:svgBlip xmlns:asvg="http://schemas.microsoft.com/office/drawing/2016/SVG/main" r:embed="Rba6b76d88ef243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72225" y="19526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05FA7-0450-45E5-BF5B-7B82DD37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Preview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C6DC1-872A-4C66-920E-1167241B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765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ACE-branded A4 report with detailed entries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1EC10-E414-4CAC-93C2-CCD95021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19375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5A74FA-8568-49FE-9C2A-002BCDCB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8595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39dd81deb4a00">
            <a:extLst>
              <a:ext uri="{96DAC541-7B7A-43D3-8B79-37D633B846F1}">
                <asvg:svgBlip xmlns:asvg="http://schemas.microsoft.com/office/drawing/2016/SVG/main" r:embed="R53f7a1f3bd374e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67825" y="19526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E3A405-9E17-44D4-AEC9-4561A5B4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Export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C10829-3F74-4797-8BD7-70D64C2F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765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Browser PDF output and a report_exports record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40649B-5FA3-4202-8307-624CBFD3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FE480D-4251-4F44-869F-D51A2F43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Stored 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01EA92-0DF3-4AD2-B21D-63B813E3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Type, date range, filters, creator, generated time, and record count.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1D8DEB-DA8D-4314-ADFF-676DDA08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38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PDF contents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EB07BA-9211-4C09-9158-5188989D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0060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Summary metrics, tracked hours by day, hours by project, and time-entry detail.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54D563-6B59-4C36-B7EC-E1FCD46F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38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Export history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FBBCA3-343C-4F16-A3A3-CA5D2632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006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File type, file name, URL when available, exporter, and timestamp.</a:t>
            </a:r>
          </a:p>
        </p:txBody>
      </p:sp>
    </p:spTree>
    <p:extLst>
      <p:ext uri="{BB962C8B-B14F-4D97-AF65-F5344CB8AC3E}">
        <p14:creationId xmlns:p14="http://schemas.microsoft.com/office/powerpoint/2010/main" val="6840775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3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F8FC82-FAC3-487A-8763-4E958FED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Audit history and restricted oversight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432A9-7E2A-4AF9-9F4B-B0D02210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The system records important actions and protects sensitive operational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59591-98AD-4E9C-9446-69A8A092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574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59412991f402d"/>
          <a:stretch xmlns:a="http://schemas.openxmlformats.org/drawingml/2006/main"/>
        </p:blipFill>
        <p:spPr>
          <a:xfrm xmlns:a="http://schemas.openxmlformats.org/drawingml/2006/main">
            <a:off x="10701338" y="323850"/>
            <a:ext cx="74295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EACA4-272F-42CE-9CC4-DF6F1983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D7D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A9D7DF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A08DA-A737-49C4-82A6-9BC5FA67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B2473-C058-46FA-92F4-DFDEEBD9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526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LOGIN / LOGOUT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487BA-6131-4B35-AD95-D38FA014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812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65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7E4D1-1102-4C34-86C2-AEB5E09E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0065E-D2E2-425C-B4B9-8D39F063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384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CLOCK_IN / CLOCK_OUT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9C866-C8CE-4213-B202-B9DA9DCA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670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65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B1C5F-17DC-4EBF-89F9-FCB836D6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9AE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79AEFF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C7277-CD7E-4B27-A279-76E1075E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APPROVE / DENY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00943-3642-4DF1-B9EF-F808E5A6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528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65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25BEF-C546-4C69-BE16-8575697E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9AE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79AEFF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DA05B-07C8-41F2-AE6C-145F1FAA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CREATE / UPDATE / DELETE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BA1314-B2B1-460B-A0DA-A37C992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386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657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DA4A1-471B-46D3-B291-4F95B926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9AE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79AEFF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CDF5A-985B-4222-BD60-04E9713F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GENERATE / EXPORT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659792-44BB-4919-B1F3-EE02EC6F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244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657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ADD458-8E90-41BE-83FC-3320F667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716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Each audit record can retain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676982-3FB3-446F-B8DC-CE35BA36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24100"/>
            <a:ext cx="22669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E5263"/>
          </a:solidFill>
          <a:ln xmlns:a="http://schemas.openxmlformats.org/drawingml/2006/main" w="9525">
            <a:solidFill>
              <a:srgbClr val="2E718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B1DAC2-99E6-4748-AF01-68FDB452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2410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rPr>
              <a:t>Actor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2B3852-F48B-4D53-A2D1-6EBC3196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22669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E5263"/>
          </a:solidFill>
          <a:ln xmlns:a="http://schemas.openxmlformats.org/drawingml/2006/main" w="9525">
            <a:solidFill>
              <a:srgbClr val="2E718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BA1143-2B5D-4ED2-B11C-91F1D57E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2410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rPr>
              <a:t>Entity and record 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EFDEF7-56E0-4379-A45C-144B5A36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22669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E5263"/>
          </a:solidFill>
          <a:ln xmlns:a="http://schemas.openxmlformats.org/drawingml/2006/main" w="9525">
            <a:solidFill>
              <a:srgbClr val="2E718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88AE94-B723-4801-80DA-528E4BC8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432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rPr>
              <a:t>Description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53F2DA-2472-43EC-973B-89221FC1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22669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E5263"/>
          </a:solidFill>
          <a:ln xmlns:a="http://schemas.openxmlformats.org/drawingml/2006/main" w="9525">
            <a:solidFill>
              <a:srgbClr val="2E718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796842-0151-476E-843C-BA24F91B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4325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rPr>
              <a:t>IP address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B44793-8D6D-4EAD-9739-1F0678B9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62400"/>
            <a:ext cx="22669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E5263"/>
          </a:solidFill>
          <a:ln xmlns:a="http://schemas.openxmlformats.org/drawingml/2006/main" w="9525">
            <a:solidFill>
              <a:srgbClr val="2E718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C0CC09-0B42-4B32-B4EE-2FDBC3E6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6240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rPr>
              <a:t>User agent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5212C8-6601-43DB-BE3B-6648C72C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62400"/>
            <a:ext cx="22669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E5263"/>
          </a:solidFill>
          <a:ln xmlns:a="http://schemas.openxmlformats.org/drawingml/2006/main" w="9525">
            <a:solidFill>
              <a:srgbClr val="2E718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2E2E3F-1352-455A-8222-C5C88B86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62400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D7EEF2"/>
                </a:solidFill>
                <a:latin typeface="Open Sans"/>
                <a:ea typeface="Open Sans"/>
                <a:cs typeface="Open Sans"/>
              </a:rPr>
              <a:t>Created timestamp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5F98A5-7E4C-4E7E-9B68-B47649B0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720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B8D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19B8D0"/>
                </a:solidFill>
                <a:latin typeface="Montserrat"/>
                <a:ea typeface="Montserrat"/>
                <a:cs typeface="Montserrat"/>
              </a:rPr>
              <a:t>Database rule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B6E3E2-FA09-4D49-9C11-B0EDAB07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768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A trigger blocks updates and deletions from audit_logs. The administrator chat log has an additional account-level restriction.</a:t>
            </a:r>
          </a:p>
        </p:txBody>
      </p:sp>
    </p:spTree>
    <p:extLst>
      <p:ext uri="{BB962C8B-B14F-4D97-AF65-F5344CB8AC3E}">
        <p14:creationId xmlns:p14="http://schemas.microsoft.com/office/powerpoint/2010/main" val="905766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D3BA92-3345-4AF0-950C-D86647CE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3C4B1-5B7F-434E-A75D-E5F7BF37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The browser never receives the Supabase secret key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BC531-7180-4F9A-8AB7-4CE14029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02d47c0fc45bf"/>
          <a:stretch xmlns:a="http://schemas.openxmlformats.org/drawingml/2006/main"/>
        </p:blipFill>
        <p:spPr>
          <a:xfrm xmlns:a="http://schemas.openxmlformats.org/drawingml/2006/main">
            <a:off x="10728953" y="323850"/>
            <a:ext cx="687719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26946-E7C4-4361-A273-6367E2B7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2BC46-BB41-41CB-92AC-B461C733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667000" cy="1809750"/>
          </a:xfrm>
          <a:prstGeom xmlns:a="http://schemas.openxmlformats.org/drawingml/2006/main" prst="roundRect">
            <a:avLst>
              <a:gd name="adj" fmla="val 6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8D647-761A-4512-8BF5-66748859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7FF64-A608-4D69-859F-F5A3932F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45603-23F9-43F0-A87A-3296A2AE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Vercel 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72E5D-29A2-4D46-8845-BC6273B4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28925"/>
            <a:ext cx="2305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Static HTML, shared CSS, browser JavaScript, Supabase client session.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C79F4-81D6-49EE-B892-40CF987A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2667000" cy="1809750"/>
          </a:xfrm>
          <a:prstGeom xmlns:a="http://schemas.openxmlformats.org/drawingml/2006/main" prst="roundRect">
            <a:avLst>
              <a:gd name="adj" fmla="val 6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16CE2-6463-42BD-9C02-514F7084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BB501-8A3A-4F73-8DB6-F9D4B62B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47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D2250-01E3-460A-9343-893EE9B1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955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Render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95A1CE-A779-407A-B79E-605C45E4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28925"/>
            <a:ext cx="2305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Node.js and Express validate tokens, roles, inputs, and business rules.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F0202-AFD7-4F56-B52C-F92C21FE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667000" cy="1809750"/>
          </a:xfrm>
          <a:prstGeom xmlns:a="http://schemas.openxmlformats.org/drawingml/2006/main" prst="roundRect">
            <a:avLst>
              <a:gd name="adj" fmla="val 6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563E2-173B-488B-826E-9E5B0CBA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D6378E-9B52-47E6-B294-68650A69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47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C84A0-0ECA-440F-9511-F56C9659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955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Supabase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E311BE-D09D-4937-AF77-8F57623A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28925"/>
            <a:ext cx="2305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Google Auth, PostgreSQL, server-side access, triggers, and RLS.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C2C6C7-798F-4C72-B8C0-AC9A96E8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1000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97B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07AC4E-A38E-4658-AF4D-EDB4D1B3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000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D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B6DCE-F90F-48C1-9E04-318F8499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75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Bearer access token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ED5015-1837-4419-BBB5-D9DF15F1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975" b="1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Server-only key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CDC830-C75B-498D-AEF5-93FCC933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Production protections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4CF93C-7269-4869-8551-3A128A73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Helmet response headers, explicit CORS origins, JSON size limits, input validation, and centralized error responses.</a:t>
            </a:r>
          </a:p>
        </p:txBody>
      </p:sp>
    </p:spTree>
    <p:extLst>
      <p:ext uri="{BB962C8B-B14F-4D97-AF65-F5344CB8AC3E}">
        <p14:creationId xmlns:p14="http://schemas.microsoft.com/office/powerpoint/2010/main" val="9354821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1F2D25-2495-4FD4-AC83-D6A1487D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Data model by business domain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15070-3406-424C-8F9F-3BEA1C12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Twelve table definitions preserve identity, work, communication, and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266D2-248E-49F2-99B1-7B923DDC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9b349b2044aab"/>
          <a:stretch xmlns:a="http://schemas.openxmlformats.org/drawingml/2006/main"/>
        </p:blipFill>
        <p:spPr>
          <a:xfrm xmlns:a="http://schemas.openxmlformats.org/drawingml/2006/main">
            <a:off x="10728953" y="323850"/>
            <a:ext cx="687719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76D5D-7113-471E-BBDE-FDF706D9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5727C"/>
                </a:solidFill>
                <a:latin typeface="Montserrat"/>
                <a:ea typeface="Montserrat"/>
                <a:cs typeface="Montserrat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2F784-A515-4E50-81F9-56144A2A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IDENTITY AND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C0CA5-052B-4B5F-B309-6148FD4B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190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profiles</a:t>
            </a:r>
          </a:p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departments</a:t>
            </a:r>
          </a:p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invitations</a:t>
            </a:r>
          </a:p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access_requests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D66E3-200C-4FDB-8E15-592209D9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95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97B5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0B97B5"/>
                </a:solidFill>
                <a:latin typeface="Montserrat"/>
                <a:ea typeface="Montserrat"/>
                <a:cs typeface="Montserrat"/>
              </a:rPr>
              <a:t>WORK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7A874-8E67-4BF8-AF2D-91944A52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projects</a:t>
            </a:r>
          </a:p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user_projects</a:t>
            </a:r>
          </a:p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time_entries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614F8-CCBB-49F5-BED6-557DB70F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5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COLLABORATION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DC428-D5C0-4997-A49E-77396E83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admin_remarks</a:t>
            </a:r>
          </a:p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employee_messages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732DC-A6D9-4F76-BE61-89B69B23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D8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1769D8"/>
                </a:solidFill>
                <a:latin typeface="Montserrat"/>
                <a:ea typeface="Montserrat"/>
                <a:cs typeface="Montserrat"/>
              </a:rPr>
              <a:t>REPORTING AND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98E6B-4F7A-4E6D-B329-D403CAF5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38350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reports</a:t>
            </a:r>
          </a:p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report_exports</a:t>
            </a:r>
          </a:p>
          <a:p xmlns:a="http://schemas.openxmlformats.org/drawingml/2006/main">
            <a:pPr algn="l">
              <a:def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063B4B"/>
                </a:solidFill>
                <a:latin typeface="Open Sans"/>
                <a:ea typeface="Open Sans"/>
                <a:cs typeface="Open Sans"/>
              </a:rPr>
              <a:t>audit_logs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24422-5B89-416D-83C6-0713E90F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B0168-B082-4216-AA6C-A08277EB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Key relationships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A9D39-9886-4DA3-AD93-059BD72B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profiles own time entries and reports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E5281-0A12-4DBC-9C66-E509F7DE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user_projects connects people and projects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89237-50D4-4409-AAF4-93F84A9B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remarks attach to time entries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200EDD-D5C8-4FDB-A4D2-8162BCE1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19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exports attach to 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DADA86-C73F-4C1F-A2F2-145EA0C6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76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audit logs reference actors and entities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5E8F1-1419-4B06-A853-E2C7DC32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19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55727C"/>
                </a:solidFill>
                <a:latin typeface="Open Sans"/>
                <a:ea typeface="Open Sans"/>
                <a:cs typeface="Open Sans"/>
              </a:rPr>
              <a:t>employee messages connect two profiles</a:t>
            </a:r>
          </a:p>
        </p:txBody>
      </p:sp>
    </p:spTree>
    <p:extLst>
      <p:ext uri="{BB962C8B-B14F-4D97-AF65-F5344CB8AC3E}">
        <p14:creationId xmlns:p14="http://schemas.microsoft.com/office/powerpoint/2010/main" val="13335211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3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5F0381-3EBB-4267-8CF6-A563CE98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Security and deployment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6FD42-0886-4C19-BBFB-071C9E92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27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The repository separates public configuration from server-only authority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7EEA2-EE23-445E-9599-49A9BCEC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574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9922b5e7846f0"/>
          <a:stretch xmlns:a="http://schemas.openxmlformats.org/drawingml/2006/main"/>
        </p:blipFill>
        <p:spPr>
          <a:xfrm xmlns:a="http://schemas.openxmlformats.org/drawingml/2006/main">
            <a:off x="10701338" y="323850"/>
            <a:ext cx="74295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82D75-0568-4556-8DDC-FE784347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D7D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A9D7DF"/>
                </a:solidFill>
                <a:latin typeface="Montserrat"/>
                <a:ea typeface="Montserrat"/>
                <a:cs typeface="Montserrat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A14E3-37A6-4219-A4E9-C495626F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211485cbb4d73">
            <a:extLst>
              <a:ext uri="{96DAC541-7B7A-43D3-8B79-37D633B846F1}">
                <asvg:svgBlip xmlns:asvg="http://schemas.microsoft.com/office/drawing/2016/SVG/main" r:embed="R315ce855237e44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4375" y="18573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6EDCA-CF03-44C9-9E1C-2F55FEE5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52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Authentication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4BAD5-8579-4860-8B35-22DFE73D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9550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Supabase validates every bearer token before protected routes run.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9F598-5F5D-4501-B1FD-8D4E6266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b03e21ae94032">
            <a:extLst>
              <a:ext uri="{96DAC541-7B7A-43D3-8B79-37D633B846F1}">
                <asvg:svgBlip xmlns:asvg="http://schemas.microsoft.com/office/drawing/2016/SVG/main" r:embed="R11c7e21cc4da46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4375" y="30575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72912-FE9F-4A34-A4CC-F1E22B00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Authorization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4A4A4-B764-42D8-A6F5-FE09D535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9565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ACTIVE, ADMIN, USER, and restricted-admin checks guard the API.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F3C6A0-9457-476A-9D27-03795F44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457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05dfd8a714466">
            <a:extLst>
              <a:ext uri="{96DAC541-7B7A-43D3-8B79-37D633B846F1}">
                <asvg:svgBlip xmlns:asvg="http://schemas.microsoft.com/office/drawing/2016/SVG/main" r:embed="R30178971d32640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4375" y="42576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5FD53-B0E2-4ECD-8B63-78498873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2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Data protection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EDBF3-7ED7-41A3-B6A4-30A2C918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9580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defRPr>
            </a:pPr>
            <a:r>
              <a:rPr sz="1125" b="0">
                <a:solidFill>
                  <a:srgbClr val="B9D8DE"/>
                </a:solidFill>
                <a:latin typeface="Open Sans"/>
                <a:ea typeface="Open Sans"/>
                <a:cs typeface="Open Sans"/>
              </a:rPr>
              <a:t>RLS, immutable audit logs, unique constraints, and server-side validation limit unsafe states.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33B3E-E0A4-4C49-B803-5A40053B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Deployment sequence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827A71-0A52-4292-857F-9C64F157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2A056-B1FB-4521-AD9D-E8A8DD7B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8D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579548-99CB-4E13-A629-0D2F92B9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47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Run the Supabase schema and feature patches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73958-B9F3-499F-B2EB-408C0A56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6CBB71-13DC-40BE-BE30-194509F3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8D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8D3EC1-D5F0-481E-BF2E-DCBADE80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765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Configure Google Auth and redirect URLs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067CBC-A728-48C4-9B04-7E450276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DCAC21-BD81-4996-A868-747ADE0E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B8D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1AB80A-1661-4E66-81D6-8784BBFE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052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Set Render secrets and allowed frontend origins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6DD497-984E-4F24-AD89-25A062B7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36C498-624F-4B80-9A31-3B5BE81D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AE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12BE98-F1CE-404F-8679-384AB977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200" b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Deploy the static frontend to Vercel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343663-4D87-42FD-A8C2-AB28614B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9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063B4B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3D75FF-7641-48A3-98A0-0AF6974D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96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AE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6FF306-CEB7-4372-A12C-DD05A3C9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62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Seed the first administrator and verify /health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348EF6-E443-4D17-81E2-4352CCBA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3E9ED"/>
                </a:solidFill>
                <a:latin typeface="Open Sans"/>
                <a:ea typeface="Open Sans"/>
                <a:cs typeface="Open Sans"/>
              </a:defRPr>
            </a:pPr>
            <a:r>
              <a:rPr sz="1200" b="1">
                <a:solidFill>
                  <a:srgbClr val="D3E9ED"/>
                </a:solidFill>
                <a:latin typeface="Open Sans"/>
                <a:ea typeface="Open Sans"/>
                <a:cs typeface="Open Sans"/>
              </a:rPr>
              <a:t>Current sign-in path: Google account approved through invitation or administrator review.</a:t>
            </a:r>
          </a:p>
        </p:txBody>
      </p:sp>
    </p:spTree>
    <p:extLst>
      <p:ext uri="{BB962C8B-B14F-4D97-AF65-F5344CB8AC3E}">
        <p14:creationId xmlns:p14="http://schemas.microsoft.com/office/powerpoint/2010/main" val="1502017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2026-09-04T09:26:00.2220000Z</dcterms:created>
  <dcterms:modified xsi:type="dcterms:W3CDTF">2026-09-04T09:26:00.2220000Z</dcterms:modified>
</coreProperties>
</file>