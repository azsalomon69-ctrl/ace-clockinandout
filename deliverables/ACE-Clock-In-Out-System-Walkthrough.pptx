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3e08f3d69a4e83" /><Relationship Type="http://schemas.openxmlformats.org/officeDocument/2006/relationships/extended-properties" Target="/docProps/app.xml" Id="Rf461fae94d274106" /><Relationship Type="http://schemas.openxmlformats.org/officeDocument/2006/relationships/officeDocument" Target="/ppt/presentation.xml" Id="R9e27d0f6a49c48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9a2d07f58243dd"/>
  </p:sldMasterIdLst>
  <p:notesMasterIdLst>
    <p:notesMasterId xmlns:r="http://schemas.openxmlformats.org/officeDocument/2006/relationships" r:id="Rf43e3c99b4234130"/>
  </p:notesMasterIdLst>
  <p:sldIdLst>
    <p:sldId xmlns:r="http://schemas.openxmlformats.org/officeDocument/2006/relationships" id="256" r:id="Rf1c5a07444f64689"/>
    <p:sldId xmlns:r="http://schemas.openxmlformats.org/officeDocument/2006/relationships" id="257" r:id="R497a112d4d0749e8"/>
    <p:sldId xmlns:r="http://schemas.openxmlformats.org/officeDocument/2006/relationships" id="258" r:id="R155cd445bf7b4e03"/>
    <p:sldId xmlns:r="http://schemas.openxmlformats.org/officeDocument/2006/relationships" id="259" r:id="Re981cbd15c764b2d"/>
    <p:sldId xmlns:r="http://schemas.openxmlformats.org/officeDocument/2006/relationships" id="260" r:id="R4da5355332f546d5"/>
    <p:sldId xmlns:r="http://schemas.openxmlformats.org/officeDocument/2006/relationships" id="261" r:id="Rbdc9cb31dae34f7f"/>
    <p:sldId xmlns:r="http://schemas.openxmlformats.org/officeDocument/2006/relationships" id="262" r:id="Rf3ba1be9d95e40a4"/>
    <p:sldId xmlns:r="http://schemas.openxmlformats.org/officeDocument/2006/relationships" id="263" r:id="Rabc287f7f2ef4512"/>
    <p:sldId xmlns:r="http://schemas.openxmlformats.org/officeDocument/2006/relationships" id="264" r:id="R7e58663f00b64f19"/>
    <p:sldId xmlns:r="http://schemas.openxmlformats.org/officeDocument/2006/relationships" id="265" r:id="R10b221fe7f0746fb"/>
    <p:sldId xmlns:r="http://schemas.openxmlformats.org/officeDocument/2006/relationships" id="266" r:id="Re1fd8d5da7d443c6"/>
    <p:sldId xmlns:r="http://schemas.openxmlformats.org/officeDocument/2006/relationships" id="267" r:id="R86a83f8eade349cc"/>
    <p:sldId xmlns:r="http://schemas.openxmlformats.org/officeDocument/2006/relationships" id="268" r:id="R47738b413fa04de8"/>
    <p:sldId xmlns:r="http://schemas.openxmlformats.org/officeDocument/2006/relationships" id="269" r:id="R3c1a796052fd4d59"/>
    <p:sldId xmlns:r="http://schemas.openxmlformats.org/officeDocument/2006/relationships" id="270" r:id="R945b442560ce428c"/>
    <p:sldId xmlns:r="http://schemas.openxmlformats.org/officeDocument/2006/relationships" id="271" r:id="R0bc7781d088a412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6185a2ba13472e" /><Relationship Type="http://schemas.openxmlformats.org/officeDocument/2006/relationships/slideMaster" Target="/ppt/slideMasters/slideMaster1.xml" Id="Rb79a2d07f58243dd" /><Relationship Type="http://schemas.openxmlformats.org/officeDocument/2006/relationships/notesMaster" Target="/ppt/notesMasters/notesMaster1.xml" Id="Rf43e3c99b4234130" /><Relationship Type="http://schemas.openxmlformats.org/officeDocument/2006/relationships/presProps" Target="/ppt/presProps.xml" Id="Rb745bf21f1774b85" /><Relationship Type="http://schemas.openxmlformats.org/officeDocument/2006/relationships/tableStyles" Target="/ppt/tableStyles.xml" Id="R609f4a6773ac4d0d" /><Relationship Type="http://schemas.openxmlformats.org/officeDocument/2006/relationships/slide" Target="/ppt/slides/slide1.xml" Id="Rf1c5a07444f64689" /><Relationship Type="http://schemas.openxmlformats.org/officeDocument/2006/relationships/slide" Target="/ppt/slides/slide2.xml" Id="R497a112d4d0749e8" /><Relationship Type="http://schemas.openxmlformats.org/officeDocument/2006/relationships/slide" Target="/ppt/slides/slide3.xml" Id="R155cd445bf7b4e03" /><Relationship Type="http://schemas.openxmlformats.org/officeDocument/2006/relationships/slide" Target="/ppt/slides/slide4.xml" Id="Re981cbd15c764b2d" /><Relationship Type="http://schemas.openxmlformats.org/officeDocument/2006/relationships/slide" Target="/ppt/slides/slide5.xml" Id="R4da5355332f546d5" /><Relationship Type="http://schemas.openxmlformats.org/officeDocument/2006/relationships/slide" Target="/ppt/slides/slide6.xml" Id="Rbdc9cb31dae34f7f" /><Relationship Type="http://schemas.openxmlformats.org/officeDocument/2006/relationships/slide" Target="/ppt/slides/slide7.xml" Id="Rf3ba1be9d95e40a4" /><Relationship Type="http://schemas.openxmlformats.org/officeDocument/2006/relationships/slide" Target="/ppt/slides/slide8.xml" Id="Rabc287f7f2ef4512" /><Relationship Type="http://schemas.openxmlformats.org/officeDocument/2006/relationships/slide" Target="/ppt/slides/slide9.xml" Id="R7e58663f00b64f19" /><Relationship Type="http://schemas.openxmlformats.org/officeDocument/2006/relationships/slide" Target="/ppt/slides/slide10.xml" Id="R10b221fe7f0746fb" /><Relationship Type="http://schemas.openxmlformats.org/officeDocument/2006/relationships/slide" Target="/ppt/slides/slide11.xml" Id="Re1fd8d5da7d443c6" /><Relationship Type="http://schemas.openxmlformats.org/officeDocument/2006/relationships/slide" Target="/ppt/slides/slide12.xml" Id="R86a83f8eade349cc" /><Relationship Type="http://schemas.openxmlformats.org/officeDocument/2006/relationships/slide" Target="/ppt/slides/slide13.xml" Id="R47738b413fa04de8" /><Relationship Type="http://schemas.openxmlformats.org/officeDocument/2006/relationships/slide" Target="/ppt/slides/slide14.xml" Id="R3c1a796052fd4d59" /><Relationship Type="http://schemas.openxmlformats.org/officeDocument/2006/relationships/slide" Target="/ppt/slides/slide15.xml" Id="R945b442560ce428c" /><Relationship Type="http://schemas.openxmlformats.org/officeDocument/2006/relationships/slide" Target="/ppt/slides/slide16.xml" Id="R0bc7781d088a41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6560327a334a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caa2b4316c4248" /><Relationship Type="http://schemas.openxmlformats.org/officeDocument/2006/relationships/notesMaster" Target="/ppt/notesMasters/notesMaster1.xml" Id="Ra6f78513ec5043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14f718800f47f4" /><Relationship Type="http://schemas.openxmlformats.org/officeDocument/2006/relationships/notesMaster" Target="/ppt/notesMasters/notesMaster1.xml" Id="R6380b0dca2dd45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15cf2df6b9427a" /><Relationship Type="http://schemas.openxmlformats.org/officeDocument/2006/relationships/notesMaster" Target="/ppt/notesMasters/notesMaster1.xml" Id="Rd6ccab22cb3f49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b0f180155249c3" /><Relationship Type="http://schemas.openxmlformats.org/officeDocument/2006/relationships/notesMaster" Target="/ppt/notesMasters/notesMaster1.xml" Id="R238e703b4be046b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a59b07a75f948d0" /><Relationship Type="http://schemas.openxmlformats.org/officeDocument/2006/relationships/notesMaster" Target="/ppt/notesMasters/notesMaster1.xml" Id="R8f5b065f0094447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eda59daa134f7f" /><Relationship Type="http://schemas.openxmlformats.org/officeDocument/2006/relationships/notesMaster" Target="/ppt/notesMasters/notesMaster1.xml" Id="R67b581e47a1c4a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169fd39bef94d0f" /><Relationship Type="http://schemas.openxmlformats.org/officeDocument/2006/relationships/notesMaster" Target="/ppt/notesMasters/notesMaster1.xml" Id="Reee8c7137421482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f44668f97014585" /><Relationship Type="http://schemas.openxmlformats.org/officeDocument/2006/relationships/notesMaster" Target="/ppt/notesMasters/notesMaster1.xml" Id="R8191718c960b45f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c452622dcdf4eca" /><Relationship Type="http://schemas.openxmlformats.org/officeDocument/2006/relationships/notesMaster" Target="/ppt/notesMasters/notesMaster1.xml" Id="Rf6c28f5be631406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060046e5c4a4aa4" /><Relationship Type="http://schemas.openxmlformats.org/officeDocument/2006/relationships/notesMaster" Target="/ppt/notesMasters/notesMaster1.xml" Id="R871f54866f014f7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0a5574c2e8e42f0" /><Relationship Type="http://schemas.openxmlformats.org/officeDocument/2006/relationships/notesMaster" Target="/ppt/notesMasters/notesMaster1.xml" Id="Ra4ff33f9ad594d0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ceda8d7804d4d80" /><Relationship Type="http://schemas.openxmlformats.org/officeDocument/2006/relationships/notesMaster" Target="/ppt/notesMasters/notesMaster1.xml" Id="R3a3a51f803354c9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8753cb2971d415c" /><Relationship Type="http://schemas.openxmlformats.org/officeDocument/2006/relationships/notesMaster" Target="/ppt/notesMasters/notesMaster1.xml" Id="Rbae83051a4794ad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2ab75524af14b2d" /><Relationship Type="http://schemas.openxmlformats.org/officeDocument/2006/relationships/notesMaster" Target="/ppt/notesMasters/notesMaster1.xml" Id="Rda491f95ffd04ac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9303439da294c3d" /><Relationship Type="http://schemas.openxmlformats.org/officeDocument/2006/relationships/notesMaster" Target="/ppt/notesMasters/notesMaster1.xml" Id="R154d9b8255f64ee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cb449f291744700" /><Relationship Type="http://schemas.openxmlformats.org/officeDocument/2006/relationships/notesMaster" Target="/ppt/notesMasters/notesMaster1.xml" Id="R724d51e58c9a4b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inspected for this slide: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index.html</a:t>
            </a:r>
          </a:p>
          <a:p xmlns:a="http://schemas.openxmlformats.org/drawingml/2006/main">
            <a:r>
              <a:t>- server/index.js</a:t>
            </a:r>
          </a:p>
          <a:p xmlns:a="http://schemas.openxmlformats.org/drawingml/2006/main">
            <a:r>
              <a:t>- supabase/schema.sql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inspected for this slide:</a:t>
            </a:r>
          </a:p>
          <a:p xmlns:a="http://schemas.openxmlformats.org/drawingml/2006/main">
            <a:r>
              <a:t>- All 19 *.html files</a:t>
            </a:r>
          </a:p>
          <a:p xmlns:a="http://schemas.openxmlformats.org/drawingml/2006/main">
            <a:r>
              <a:t>- server/index.js</a:t>
            </a:r>
          </a:p>
          <a:p xmlns:a="http://schemas.openxmlformats.org/drawingml/2006/main">
            <a:r>
              <a:t>- js/script.js</a:t>
            </a:r>
          </a:p>
          <a:p xmlns:a="http://schemas.openxmlformats.org/drawingml/2006/main">
            <a:r>
              <a:t>- js/admin-sections.js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inspected for this slide: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server/index.js: authenticate/adminOnly/activeOnly middleware</a:t>
            </a:r>
          </a:p>
          <a:p xmlns:a="http://schemas.openxmlformats.org/drawingml/2006/main">
            <a:r>
              <a:t>- supabase/schema.sql: profile trigger and audit trigger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inspected for this slide:</a:t>
            </a:r>
          </a:p>
          <a:p xmlns:a="http://schemas.openxmlformats.org/drawingml/2006/main">
            <a:r>
              <a:t>- login.html</a:t>
            </a:r>
          </a:p>
          <a:p xmlns:a="http://schemas.openxmlformats.org/drawingml/2006/main">
            <a:r>
              <a:t>- js/script.js: handleGoogleLogin and beginGoogleAccessRequest</a:t>
            </a:r>
          </a:p>
          <a:p xmlns:a="http://schemas.openxmlformats.org/drawingml/2006/main">
            <a:r>
              <a:t>- server/index.js: /v1/access-requests and /v1/invitations</a:t>
            </a:r>
          </a:p>
          <a:p xmlns:a="http://schemas.openxmlformats.org/drawingml/2006/main">
            <a:r>
              <a:t>- supabase/schema.sql: create_profile_for_auth_user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inspected for this slide:</a:t>
            </a:r>
          </a:p>
          <a:p xmlns:a="http://schemas.openxmlformats.org/drawingml/2006/main">
            <a:r>
              <a:t>- user-dashboard.html</a:t>
            </a:r>
          </a:p>
          <a:p xmlns:a="http://schemas.openxmlformats.org/drawingml/2006/main">
            <a:r>
              <a:t>- js/script.js: loadUserDashboard, startTimer, updateTimerDisplay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inspected for this slide:</a:t>
            </a:r>
          </a:p>
          <a:p xmlns:a="http://schemas.openxmlformats.org/drawingml/2006/main">
            <a:r>
              <a:t>- server/index.js: /v1/time-entries/clock-in and /clock-out</a:t>
            </a:r>
          </a:p>
          <a:p xmlns:a="http://schemas.openxmlformats.org/drawingml/2006/main">
            <a:r>
              <a:t>- supabase/schema.sql: time_entries and one_open_entry_per_user</a:t>
            </a:r>
          </a:p>
          <a:p xmlns:a="http://schemas.openxmlformats.org/drawingml/2006/main">
            <a:r>
              <a:t>- js/script.js: handleClockIn, handleClockOut, startPresenceHeartbeat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inspected for this slide:</a:t>
            </a:r>
          </a:p>
          <a:p xmlns:a="http://schemas.openxmlformats.org/drawingml/2006/main">
            <a:r>
              <a:t>- time-entries.html</a:t>
            </a:r>
          </a:p>
          <a:p xmlns:a="http://schemas.openxmlformats.org/drawingml/2006/main">
            <a:r>
              <a:t>- remarks.html</a:t>
            </a:r>
          </a:p>
          <a:p xmlns:a="http://schemas.openxmlformats.org/drawingml/2006/main">
            <a:r>
              <a:t>- js/script.js: initializeEmployeeChat and loadTimeEntries</a:t>
            </a:r>
          </a:p>
          <a:p xmlns:a="http://schemas.openxmlformats.org/drawingml/2006/main">
            <a:r>
              <a:t>- server/index.js: employee chat routes</a:t>
            </a:r>
          </a:p>
          <a:p xmlns:a="http://schemas.openxmlformats.org/drawingml/2006/main">
            <a:r>
              <a:t>- supabase/employee-chat.sql</a:t>
            </a:r>
          </a:p>
          <a:p xmlns:a="http://schemas.openxmlformats.org/drawingml/2006/main">
            <a:r>
              <a:t>- supabase/scheduled-time-entries.sql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inspected for this slide:</a:t>
            </a:r>
          </a:p>
          <a:p xmlns:a="http://schemas.openxmlformats.org/drawingml/2006/main">
            <a:r>
              <a:t>- admin-dashboard.html</a:t>
            </a:r>
          </a:p>
          <a:p xmlns:a="http://schemas.openxmlformats.org/drawingml/2006/main">
            <a:r>
              <a:t>- js/script.js: initializeAnalyticsRangePicker, renderAdminAnalytics, generateAdminAnalyticsReport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inspected for this slide:</a:t>
            </a:r>
          </a:p>
          <a:p xmlns:a="http://schemas.openxmlformats.org/drawingml/2006/main">
            <a:r>
              <a:t>- users.html</a:t>
            </a:r>
          </a:p>
          <a:p xmlns:a="http://schemas.openxmlformats.org/drawingml/2006/main">
            <a:r>
              <a:t>- access-requests.html</a:t>
            </a:r>
          </a:p>
          <a:p xmlns:a="http://schemas.openxmlformats.org/drawingml/2006/main">
            <a:r>
              <a:t>- invitations.html</a:t>
            </a:r>
          </a:p>
          <a:p xmlns:a="http://schemas.openxmlformats.org/drawingml/2006/main">
            <a:r>
              <a:t>- deleted-users.html</a:t>
            </a:r>
          </a:p>
          <a:p xmlns:a="http://schemas.openxmlformats.org/drawingml/2006/main">
            <a:r>
              <a:t>- server/index.js: user approval, role, department, project, archive, restore, permanent delete routes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inspected for this slide:</a:t>
            </a:r>
          </a:p>
          <a:p xmlns:a="http://schemas.openxmlformats.org/drawingml/2006/main">
            <a:r>
              <a:t>- departments.html</a:t>
            </a:r>
          </a:p>
          <a:p xmlns:a="http://schemas.openxmlformats.org/drawingml/2006/main">
            <a:r>
              <a:t>- projects.html</a:t>
            </a:r>
          </a:p>
          <a:p xmlns:a="http://schemas.openxmlformats.org/drawingml/2006/main">
            <a:r>
              <a:t>- server/index.js: department/project/user-project routes</a:t>
            </a:r>
          </a:p>
          <a:p xmlns:a="http://schemas.openxmlformats.org/drawingml/2006/main">
            <a:r>
              <a:t>- supabase/schema.sql: departments, projects, profiles, user_projects, time_entries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inspected for this slide:</a:t>
            </a:r>
          </a:p>
          <a:p xmlns:a="http://schemas.openxmlformats.org/drawingml/2006/main">
            <a:r>
              <a:t>- admin-time-entries.html</a:t>
            </a:r>
          </a:p>
          <a:p xmlns:a="http://schemas.openxmlformats.org/drawingml/2006/main">
            <a:r>
              <a:t>- deleted-time-entries.html</a:t>
            </a:r>
          </a:p>
          <a:p xmlns:a="http://schemas.openxmlformats.org/drawingml/2006/main">
            <a:r>
              <a:t>- remarks.html</a:t>
            </a:r>
          </a:p>
          <a:p xmlns:a="http://schemas.openxmlformats.org/drawingml/2006/main">
            <a:r>
              <a:t>- server/index.js: remark/delete/restore/permanent routes</a:t>
            </a:r>
          </a:p>
          <a:p xmlns:a="http://schemas.openxmlformats.org/drawingml/2006/main">
            <a:r>
              <a:t>- supabase/soft-delete-time-entries.sql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inspected for this slide:</a:t>
            </a:r>
          </a:p>
          <a:p xmlns:a="http://schemas.openxmlformats.org/drawingml/2006/main">
            <a:r>
              <a:t>- reports.html</a:t>
            </a:r>
          </a:p>
          <a:p xmlns:a="http://schemas.openxmlformats.org/drawingml/2006/main">
            <a:r>
              <a:t>- admin-dashboard.html</a:t>
            </a:r>
          </a:p>
          <a:p xmlns:a="http://schemas.openxmlformats.org/drawingml/2006/main">
            <a:r>
              <a:t>- js/script.js: handleGenerateReport, renderGeneratedReport, printGeneratedReport</a:t>
            </a:r>
          </a:p>
          <a:p xmlns:a="http://schemas.openxmlformats.org/drawingml/2006/main">
            <a:r>
              <a:t>- server/index.js: reports and exports routes</a:t>
            </a:r>
          </a:p>
          <a:p xmlns:a="http://schemas.openxmlformats.org/drawingml/2006/main">
            <a:r>
              <a:t>- supabase/schema.sql: reports and report_exports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inspected for this slide:</a:t>
            </a:r>
          </a:p>
          <a:p xmlns:a="http://schemas.openxmlformats.org/drawingml/2006/main">
            <a:r>
              <a:t>- audit-logs.html</a:t>
            </a:r>
          </a:p>
          <a:p xmlns:a="http://schemas.openxmlformats.org/drawingml/2006/main">
            <a:r>
              <a:t>- chat-log.html</a:t>
            </a:r>
          </a:p>
          <a:p xmlns:a="http://schemas.openxmlformats.org/drawingml/2006/main">
            <a:r>
              <a:t>- server/index.js: audit helper and /v1/admin/chat-log</a:t>
            </a:r>
          </a:p>
          <a:p xmlns:a="http://schemas.openxmlformats.org/drawingml/2006/main">
            <a:r>
              <a:t>- supabase/schema.sql: audit_logs and prevent_audit_log_changes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inspected for this slide: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js/api-config.js</a:t>
            </a:r>
          </a:p>
          <a:p xmlns:a="http://schemas.openxmlformats.org/drawingml/2006/main">
            <a:r>
              <a:t>- js/supabase-auth.js</a:t>
            </a:r>
          </a:p>
          <a:p xmlns:a="http://schemas.openxmlformats.org/drawingml/2006/main">
            <a:r>
              <a:t>- server/index.js: setup, authenticate, middleware, error handler</a:t>
            </a:r>
          </a:p>
          <a:p xmlns:a="http://schemas.openxmlformats.org/drawingml/2006/main">
            <a:r>
              <a:t>- vercel.json</a:t>
            </a:r>
          </a:p>
          <a:p xmlns:a="http://schemas.openxmlformats.org/drawingml/2006/main">
            <a:r>
              <a:t>- render.yaml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inspected for this slide:</a:t>
            </a:r>
          </a:p>
          <a:p xmlns:a="http://schemas.openxmlformats.org/drawingml/2006/main">
            <a:r>
              <a:t>- supabase/schema.sql</a:t>
            </a:r>
          </a:p>
          <a:p xmlns:a="http://schemas.openxmlformats.org/drawingml/2006/main">
            <a:r>
              <a:t>- supabase/employee-chat.sql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inspected for this slide: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.env.example</a:t>
            </a:r>
          </a:p>
          <a:p xmlns:a="http://schemas.openxmlformats.org/drawingml/2006/main">
            <a:r>
              <a:t>- scripts/seed-admin.js</a:t>
            </a:r>
          </a:p>
          <a:p xmlns:a="http://schemas.openxmlformats.org/drawingml/2006/main">
            <a:r>
              <a:t>- render.yaml</a:t>
            </a:r>
          </a:p>
          <a:p xmlns:a="http://schemas.openxmlformats.org/drawingml/2006/main">
            <a:r>
              <a:t>- vercel.json</a:t>
            </a:r>
          </a:p>
          <a:p xmlns:a="http://schemas.openxmlformats.org/drawingml/2006/main">
            <a:r>
              <a:t>- server/index.js</a:t>
            </a:r>
          </a:p>
          <a:p xmlns:a="http://schemas.openxmlformats.org/drawingml/2006/main">
            <a:r>
              <a:t>- supabase/*.sql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6829ade88d49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c594c4ecee4322" /><Relationship Type="http://schemas.openxmlformats.org/officeDocument/2006/relationships/slideLayout" Target="/ppt/slideLayouts/slideLayout1.xml" Id="R9cc15849598045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c15849598045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3fdf6c702c421c" /><Relationship Type="http://schemas.openxmlformats.org/officeDocument/2006/relationships/image" Target="/ppt/media/image.png" Id="Rda6c7f7486dc487b" /><Relationship Type="http://schemas.openxmlformats.org/officeDocument/2006/relationships/image" Target="/ppt/media/image2.png" Id="Ra23cbe4437da4253" /><Relationship Type="http://schemas.openxmlformats.org/officeDocument/2006/relationships/notesSlide" Target="/ppt/notesSlides/notesSlide1.xml" Id="Rdf107be9f79f4a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a1496ac38749a2" /><Relationship Type="http://schemas.openxmlformats.org/officeDocument/2006/relationships/image" Target="/ppt/media/image3.png" Id="R5e4bfb3f9fcc4d07" /><Relationship Type="http://schemas.openxmlformats.org/officeDocument/2006/relationships/notesSlide" Target="/ppt/notesSlides/notesSlide2.xml" Id="R4a2751871edd43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3453549969491c" /><Relationship Type="http://schemas.openxmlformats.org/officeDocument/2006/relationships/image" Target="/ppt/media/image4.png" Id="R22e5897a7ca74598" /><Relationship Type="http://schemas.openxmlformats.org/officeDocument/2006/relationships/notesSlide" Target="/ppt/notesSlides/notesSlide3.xml" Id="Rfa63656d256b45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b0fd8875ec46ff" /><Relationship Type="http://schemas.openxmlformats.org/officeDocument/2006/relationships/image" Target="/ppt/media/image5.png" Id="R63ca342a82334565" /><Relationship Type="http://schemas.openxmlformats.org/officeDocument/2006/relationships/image" Target="/ppt/media/image6.png" Id="R87cdb6bfe38a4889" /><Relationship Type="http://schemas.openxmlformats.org/officeDocument/2006/relationships/notesSlide" Target="/ppt/notesSlides/notesSlide4.xml" Id="Rec56b7318e884e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a0ba928d8a4aeb" /><Relationship Type="http://schemas.openxmlformats.org/officeDocument/2006/relationships/image" Target="/ppt/media/image7.png" Id="Rc65c7a9951dc413f" /><Relationship Type="http://schemas.openxmlformats.org/officeDocument/2006/relationships/image" Target="/ppt/media/image8.png" Id="R150f3550a7624beb" /><Relationship Type="http://schemas.openxmlformats.org/officeDocument/2006/relationships/image" Target="/ppt/media/image.svg" Id="R7a2d346f536c455f" /><Relationship Type="http://schemas.openxmlformats.org/officeDocument/2006/relationships/image" Target="/ppt/media/image9.png" Id="R354c8ce1e4bc457c" /><Relationship Type="http://schemas.openxmlformats.org/officeDocument/2006/relationships/image" Target="/ppt/media/image2.svg" Id="R7f4d78244df148c5" /><Relationship Type="http://schemas.openxmlformats.org/officeDocument/2006/relationships/image" Target="/ppt/media/image10.png" Id="Rd90a416e744c4075" /><Relationship Type="http://schemas.openxmlformats.org/officeDocument/2006/relationships/image" Target="/ppt/media/image3.svg" Id="Rf81464708ba4413b" /><Relationship Type="http://schemas.openxmlformats.org/officeDocument/2006/relationships/notesSlide" Target="/ppt/notesSlides/notesSlide5.xml" Id="Rc5ea6702b47c45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6db05299dc4ea2" /><Relationship Type="http://schemas.openxmlformats.org/officeDocument/2006/relationships/image" Target="/ppt/media/image11.png" Id="Rb622f693783041d3" /><Relationship Type="http://schemas.openxmlformats.org/officeDocument/2006/relationships/notesSlide" Target="/ppt/notesSlides/notesSlide6.xml" Id="Rea7e07af68ae4f5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66bd1f45a0448b" /><Relationship Type="http://schemas.openxmlformats.org/officeDocument/2006/relationships/image" Target="/ppt/media/image12.png" Id="R7815c89978a94742" /><Relationship Type="http://schemas.openxmlformats.org/officeDocument/2006/relationships/image" Target="/ppt/media/image13.png" Id="R13a05e4f9ab84b39" /><Relationship Type="http://schemas.openxmlformats.org/officeDocument/2006/relationships/image" Target="/ppt/media/image4.svg" Id="R323c808937514363" /><Relationship Type="http://schemas.openxmlformats.org/officeDocument/2006/relationships/image" Target="/ppt/media/image14.png" Id="R8a961ad169404e9c" /><Relationship Type="http://schemas.openxmlformats.org/officeDocument/2006/relationships/image" Target="/ppt/media/image5.svg" Id="R417324e087d24b7b" /><Relationship Type="http://schemas.openxmlformats.org/officeDocument/2006/relationships/image" Target="/ppt/media/image15.png" Id="Rb0db5e1396304141" /><Relationship Type="http://schemas.openxmlformats.org/officeDocument/2006/relationships/image" Target="/ppt/media/image6.svg" Id="Rb56798729fb04dc6" /><Relationship Type="http://schemas.openxmlformats.org/officeDocument/2006/relationships/notesSlide" Target="/ppt/notesSlides/notesSlide7.xml" Id="R06dcd21d966a41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5aee9acacf400d" /><Relationship Type="http://schemas.openxmlformats.org/officeDocument/2006/relationships/image" Target="/ppt/media/image16.png" Id="Rbbc8bc9f72584bd4" /><Relationship Type="http://schemas.openxmlformats.org/officeDocument/2006/relationships/image" Target="/ppt/media/image17.png" Id="R882e770fa872464b" /><Relationship Type="http://schemas.openxmlformats.org/officeDocument/2006/relationships/image" Target="/ppt/media/image7.svg" Id="Rc4b4950b9bcd4bc2" /><Relationship Type="http://schemas.openxmlformats.org/officeDocument/2006/relationships/image" Target="/ppt/media/image18.png" Id="Rc6cd629de22449a0" /><Relationship Type="http://schemas.openxmlformats.org/officeDocument/2006/relationships/image" Target="/ppt/media/image8.svg" Id="Rf0653e99c6f44c09" /><Relationship Type="http://schemas.openxmlformats.org/officeDocument/2006/relationships/image" Target="/ppt/media/image19.png" Id="R1beebc02f3f746eb" /><Relationship Type="http://schemas.openxmlformats.org/officeDocument/2006/relationships/image" Target="/ppt/media/image9.svg" Id="R691afa5638fc4abb" /><Relationship Type="http://schemas.openxmlformats.org/officeDocument/2006/relationships/notesSlide" Target="/ppt/notesSlides/notesSlide8.xml" Id="Rd55759c94ba7470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4d20b59fb54078" /><Relationship Type="http://schemas.openxmlformats.org/officeDocument/2006/relationships/image" Target="/ppt/media/image20.png" Id="R0716231242b3438a" /><Relationship Type="http://schemas.openxmlformats.org/officeDocument/2006/relationships/notesSlide" Target="/ppt/notesSlides/notesSlide9.xml" Id="R6ef325345d894ae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ae2b4146ba4e96" /><Relationship Type="http://schemas.openxmlformats.org/officeDocument/2006/relationships/image" Target="/ppt/media/image21.png" Id="R9550e5d5fd5943a8" /><Relationship Type="http://schemas.openxmlformats.org/officeDocument/2006/relationships/notesSlide" Target="/ppt/notesSlides/notesSlide10.xml" Id="R224c2def1ac9424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e7fe5759654539" /><Relationship Type="http://schemas.openxmlformats.org/officeDocument/2006/relationships/image" Target="/ppt/media/image22.png" Id="R9a46ffdc9833402a" /><Relationship Type="http://schemas.openxmlformats.org/officeDocument/2006/relationships/image" Target="/ppt/media/image23.png" Id="R8be33e5c81664001" /><Relationship Type="http://schemas.openxmlformats.org/officeDocument/2006/relationships/image" Target="/ppt/media/image10.svg" Id="R0c2ee4d9fc934256" /><Relationship Type="http://schemas.openxmlformats.org/officeDocument/2006/relationships/image" Target="/ppt/media/image24.png" Id="R6dece9d19b6b4db2" /><Relationship Type="http://schemas.openxmlformats.org/officeDocument/2006/relationships/image" Target="/ppt/media/image11.svg" Id="R84b6ea9166be4f7a" /><Relationship Type="http://schemas.openxmlformats.org/officeDocument/2006/relationships/image" Target="/ppt/media/image25.png" Id="R701a19612b68483c" /><Relationship Type="http://schemas.openxmlformats.org/officeDocument/2006/relationships/image" Target="/ppt/media/image12.svg" Id="R646cfb3bdbc6452e" /><Relationship Type="http://schemas.openxmlformats.org/officeDocument/2006/relationships/notesSlide" Target="/ppt/notesSlides/notesSlide11.xml" Id="R7d99e27e7fc7461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61ca574ae74272" /><Relationship Type="http://schemas.openxmlformats.org/officeDocument/2006/relationships/image" Target="/ppt/media/image26.png" Id="R4524f916625b4f3d" /><Relationship Type="http://schemas.openxmlformats.org/officeDocument/2006/relationships/image" Target="/ppt/media/image27.png" Id="R06b9b5055a9a4231" /><Relationship Type="http://schemas.openxmlformats.org/officeDocument/2006/relationships/image" Target="/ppt/media/image13.svg" Id="R40311413898f4a8b" /><Relationship Type="http://schemas.openxmlformats.org/officeDocument/2006/relationships/image" Target="/ppt/media/image28.png" Id="Rf665a6ed35b7404a" /><Relationship Type="http://schemas.openxmlformats.org/officeDocument/2006/relationships/image" Target="/ppt/media/image14.svg" Id="R00a681a707134a6e" /><Relationship Type="http://schemas.openxmlformats.org/officeDocument/2006/relationships/image" Target="/ppt/media/image29.png" Id="R0d5f6a887a2d4cc8" /><Relationship Type="http://schemas.openxmlformats.org/officeDocument/2006/relationships/image" Target="/ppt/media/image15.svg" Id="R7dfba53e2f2c47bd" /><Relationship Type="http://schemas.openxmlformats.org/officeDocument/2006/relationships/image" Target="/ppt/media/image30.png" Id="R4c0c4139e53a4147" /><Relationship Type="http://schemas.openxmlformats.org/officeDocument/2006/relationships/image" Target="/ppt/media/image16.svg" Id="Rc15aec71928f4e1c" /><Relationship Type="http://schemas.openxmlformats.org/officeDocument/2006/relationships/notesSlide" Target="/ppt/notesSlides/notesSlide12.xml" Id="Re31c86b0e4ca412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943472e55e45e3" /><Relationship Type="http://schemas.openxmlformats.org/officeDocument/2006/relationships/image" Target="/ppt/media/image31.png" Id="Rfb7fdca001b44cfd" /><Relationship Type="http://schemas.openxmlformats.org/officeDocument/2006/relationships/notesSlide" Target="/ppt/notesSlides/notesSlide13.xml" Id="R6101927ba67e4c8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fc27d489694bee" /><Relationship Type="http://schemas.openxmlformats.org/officeDocument/2006/relationships/image" Target="/ppt/media/image32.png" Id="R6ad0c06e98a34ca7" /><Relationship Type="http://schemas.openxmlformats.org/officeDocument/2006/relationships/notesSlide" Target="/ppt/notesSlides/notesSlide14.xml" Id="Rc7cf99ef36884bf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a7d71da230499c" /><Relationship Type="http://schemas.openxmlformats.org/officeDocument/2006/relationships/image" Target="/ppt/media/image33.png" Id="R6de4266da1774f85" /><Relationship Type="http://schemas.openxmlformats.org/officeDocument/2006/relationships/notesSlide" Target="/ppt/notesSlides/notesSlide15.xml" Id="R9c9277bedf7d477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82c9aff79c4226" /><Relationship Type="http://schemas.openxmlformats.org/officeDocument/2006/relationships/image" Target="/ppt/media/image34.png" Id="R6353750a903043c8" /><Relationship Type="http://schemas.openxmlformats.org/officeDocument/2006/relationships/image" Target="/ppt/media/image35.png" Id="R617c458df7bc4e9f" /><Relationship Type="http://schemas.openxmlformats.org/officeDocument/2006/relationships/image" Target="/ppt/media/image17.svg" Id="R1a7c818f7bd24f9a" /><Relationship Type="http://schemas.openxmlformats.org/officeDocument/2006/relationships/image" Target="/ppt/media/image36.png" Id="Rd39d8e2c8719457f" /><Relationship Type="http://schemas.openxmlformats.org/officeDocument/2006/relationships/image" Target="/ppt/media/image18.svg" Id="Re1812d3767a74065" /><Relationship Type="http://schemas.openxmlformats.org/officeDocument/2006/relationships/image" Target="/ppt/media/image37.png" Id="Rb811e854fec24581" /><Relationship Type="http://schemas.openxmlformats.org/officeDocument/2006/relationships/image" Target="/ppt/media/image19.svg" Id="R3bacb6782fcf4c4b" /><Relationship Type="http://schemas.openxmlformats.org/officeDocument/2006/relationships/notesSlide" Target="/ppt/notesSlides/notesSlide16.xml" Id="R7252cc6052a644f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3B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6c7f7486dc487b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997726-1C62-4908-A35B-EABDD865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F3E">
              <a:alpha val="80000"/>
            </a:srgbClr>
          </a:solidFill>
          <a:ln xmlns:a="http://schemas.openxmlformats.org/drawingml/2006/main" w="0">
            <a:noFill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3cbe4437da4253"/>
          <a:stretch xmlns:a="http://schemas.openxmlformats.org/drawingml/2006/main"/>
        </p:blipFill>
        <p:spPr>
          <a:xfrm xmlns:a="http://schemas.openxmlformats.org/drawingml/2006/main">
            <a:off x="769144" y="590550"/>
            <a:ext cx="1357313" cy="9048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55EEC5-53CB-454E-9206-A1E41E42C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9B8D0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19B8D0"/>
                </a:solidFill>
                <a:latin typeface="Montserrat"/>
                <a:ea typeface="Montserrat"/>
                <a:cs typeface="Montserrat"/>
              </a:rPr>
              <a:t>SYSTEM WALKTHROUGH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2E47B6-073B-427B-9645-404F17BA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781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ACE Clock In / 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C4F1B0-81B6-4766-BEBC-BFB4D26D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4E2E7"/>
                </a:solidFill>
                <a:latin typeface="Open Sans"/>
                <a:ea typeface="Open Sans"/>
                <a:cs typeface="Open Sans"/>
              </a:defRPr>
            </a:pPr>
            <a:r>
              <a:rPr sz="1875" b="0">
                <a:solidFill>
                  <a:srgbClr val="C4E2E7"/>
                </a:solidFill>
                <a:latin typeface="Open Sans"/>
                <a:ea typeface="Open Sans"/>
                <a:cs typeface="Open Sans"/>
              </a:rPr>
              <a:t>How the workforce time tracking platform works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42A251-1B38-44BB-9FE6-6F656432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23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9B8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D79F76-674B-4DD6-85E5-CA002658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733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4E2E7"/>
                </a:solidFill>
                <a:latin typeface="Open Sans"/>
                <a:ea typeface="Open Sans"/>
                <a:cs typeface="Open Sans"/>
              </a:defRPr>
            </a:pPr>
            <a:r>
              <a:rPr sz="1350" b="0">
                <a:solidFill>
                  <a:srgbClr val="C4E2E7"/>
                </a:solidFill>
                <a:latin typeface="Open Sans"/>
                <a:ea typeface="Open Sans"/>
                <a:cs typeface="Open Sans"/>
              </a:rPr>
              <a:t>Frontend, API, authentication, data model, reports, and operational controls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EF378A-E12B-4F41-B80D-DB892B95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ACE Outsource Solutions</a:t>
            </a:r>
          </a:p>
        </p:txBody>
      </p:sp>
    </p:spTree>
    <p:extLst>
      <p:ext uri="{BB962C8B-B14F-4D97-AF65-F5344CB8AC3E}">
        <p14:creationId xmlns:p14="http://schemas.microsoft.com/office/powerpoint/2010/main" val="18368528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BFA7FC-ECE2-4EE4-A6F2-0A28C22C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What the platform covers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208CE8-9FD9-4031-B4CE-40AB63B02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275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A single internal workspace for employees and administrators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8B0F1F-3CA9-416D-AAB5-483D8458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E8EE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4bfb3f9fcc4d07"/>
          <a:stretch xmlns:a="http://schemas.openxmlformats.org/drawingml/2006/main"/>
        </p:blipFill>
        <p:spPr>
          <a:xfrm xmlns:a="http://schemas.openxmlformats.org/drawingml/2006/main">
            <a:off x="10728953" y="323850"/>
            <a:ext cx="687719" cy="4953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BAB1FB-7F66-442C-B919-48104F0A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27C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55727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23A03D-CB29-4234-A301-6D74B2D4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97B5"/>
                </a:solidFill>
                <a:latin typeface="Montserrat"/>
                <a:ea typeface="Montserrat"/>
                <a:cs typeface="Montserrat"/>
              </a:defRPr>
            </a:pPr>
            <a:r>
              <a:rPr sz="2400" b="1">
                <a:solidFill>
                  <a:srgbClr val="0B97B5"/>
                </a:solidFill>
                <a:latin typeface="Montserrat"/>
                <a:ea typeface="Montserrat"/>
                <a:cs typeface="Montserrat"/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F3854D-A748-4C67-9FD4-EBE0BFE6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621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125" b="1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HTML pages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BAA5B0-C1AD-4FBC-A64A-4F0827A0B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145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97B5"/>
                </a:solidFill>
                <a:latin typeface="Montserrat"/>
                <a:ea typeface="Montserrat"/>
                <a:cs typeface="Montserrat"/>
              </a:defRPr>
            </a:pPr>
            <a:r>
              <a:rPr sz="2400" b="1">
                <a:solidFill>
                  <a:srgbClr val="0B97B5"/>
                </a:solidFill>
                <a:latin typeface="Montserrat"/>
                <a:ea typeface="Montserrat"/>
                <a:cs typeface="Montserrat"/>
              </a:rPr>
              <a:t>49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CD0DFF-DBAD-42B6-BD56-23E76C02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621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125" b="1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API routes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A87E4B-FD0F-4948-8947-7B83D4B42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7145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97B5"/>
                </a:solidFill>
                <a:latin typeface="Montserrat"/>
                <a:ea typeface="Montserrat"/>
                <a:cs typeface="Montserrat"/>
              </a:defRPr>
            </a:pPr>
            <a:r>
              <a:rPr sz="2400" b="1">
                <a:solidFill>
                  <a:srgbClr val="0B97B5"/>
                </a:solidFill>
                <a:latin typeface="Montserrat"/>
                <a:ea typeface="Montserrat"/>
                <a:cs typeface="Montserrat"/>
              </a:rPr>
              <a:t>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7C7F5E-598F-422B-A7E5-3FF3A213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6217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125" b="1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database table definitions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ACBD4A-E8B4-451D-85A1-CB32EE3A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145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97B5"/>
                </a:solidFill>
                <a:latin typeface="Montserrat"/>
                <a:ea typeface="Montserrat"/>
                <a:cs typeface="Montserrat"/>
              </a:defRPr>
            </a:pPr>
            <a:r>
              <a:rPr sz="2400" b="1">
                <a:solidFill>
                  <a:srgbClr val="0B97B5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486920-A311-42CC-857B-A0F61D65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6217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125" b="1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role experiences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228DF9-69DB-4FFC-A1A9-EB21D7C1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E8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0E25E1-CFD2-4C26-83EB-2D6003D4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97B5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0B97B5"/>
                </a:solidFill>
                <a:latin typeface="Montserrat"/>
                <a:ea typeface="Montserrat"/>
                <a:cs typeface="Montserrat"/>
              </a:rPr>
              <a:t>Employee workspace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7182D3-6C15-49BC-9B94-9E9BFD42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480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97B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E459A8-D927-46D9-A98F-FFD6F1BB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4762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3B4B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63B4B"/>
                </a:solidFill>
                <a:latin typeface="Open Sans"/>
                <a:ea typeface="Open Sans"/>
                <a:cs typeface="Open Sans"/>
              </a:rPr>
              <a:t>Clock in and out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D66957-3DC2-40FD-9272-E217BEB5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0025"/>
            <a:ext cx="4762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63B4B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063B4B"/>
                </a:solidFill>
                <a:latin typeface="Open Sans"/>
                <a:ea typeface="Open Sans"/>
                <a:cs typeface="Open Sans"/>
              </a:rPr>
              <a:t>Review personal entries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BFACE7-CF88-4464-A79D-E70F7846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9600"/>
            <a:ext cx="4762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63B4B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063B4B"/>
                </a:solidFill>
                <a:latin typeface="Open Sans"/>
                <a:ea typeface="Open Sans"/>
                <a:cs typeface="Open Sans"/>
              </a:rPr>
              <a:t>Read administrator remarks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E13A71-2338-4FD9-8C81-F75830F6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29175"/>
            <a:ext cx="4762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63B4B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063B4B"/>
                </a:solidFill>
                <a:latin typeface="Open Sans"/>
                <a:ea typeface="Open Sans"/>
                <a:cs typeface="Open Sans"/>
              </a:rPr>
              <a:t>Message active employees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AC22FA-2DA3-42D8-9CA0-00D1BA64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480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9D8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1769D8"/>
                </a:solidFill>
                <a:latin typeface="Montserrat"/>
                <a:ea typeface="Montserrat"/>
                <a:cs typeface="Montserrat"/>
              </a:rPr>
              <a:t>Administrator workspace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C546FE-B9A2-46AB-9472-B04121D4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480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9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015D0B-EB33-4FB7-9EEF-2401897A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00450"/>
            <a:ext cx="495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3B4B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63B4B"/>
                </a:solidFill>
                <a:latin typeface="Open Sans"/>
                <a:ea typeface="Open Sans"/>
                <a:cs typeface="Open Sans"/>
              </a:rPr>
              <a:t>Monitor team activity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220D70-2A87-4425-838F-A6FD338A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10025"/>
            <a:ext cx="495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63B4B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063B4B"/>
                </a:solidFill>
                <a:latin typeface="Open Sans"/>
                <a:ea typeface="Open Sans"/>
                <a:cs typeface="Open Sans"/>
              </a:rPr>
              <a:t>Manage access and assignments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7064C5-0B68-4AA8-8332-CE15E2D4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19600"/>
            <a:ext cx="495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63B4B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063B4B"/>
                </a:solidFill>
                <a:latin typeface="Open Sans"/>
                <a:ea typeface="Open Sans"/>
                <a:cs typeface="Open Sans"/>
              </a:rPr>
              <a:t>Review, remark, archive, and restore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380A40-A096-459A-97A1-C684E62F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29175"/>
            <a:ext cx="495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63B4B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063B4B"/>
                </a:solidFill>
                <a:latin typeface="Open Sans"/>
                <a:ea typeface="Open Sans"/>
                <a:cs typeface="Open Sans"/>
              </a:rPr>
              <a:t>Generate reports and inspect audit history</a:t>
            </a:r>
          </a:p>
        </p:txBody>
      </p:sp>
    </p:spTree>
    <p:extLst>
      <p:ext uri="{BB962C8B-B14F-4D97-AF65-F5344CB8AC3E}">
        <p14:creationId xmlns:p14="http://schemas.microsoft.com/office/powerpoint/2010/main" val="10286272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2818F8B-2B6A-4B5E-8506-5610DACC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End-to-end operating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763B77-2CEE-47A7-8475-720E43AF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275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From account access to an auditable report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4D02E9-F47F-4CF5-9865-C5197C18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E8EE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e5897a7ca74598"/>
          <a:stretch xmlns:a="http://schemas.openxmlformats.org/drawingml/2006/main"/>
        </p:blipFill>
        <p:spPr>
          <a:xfrm xmlns:a="http://schemas.openxmlformats.org/drawingml/2006/main">
            <a:off x="10728953" y="323850"/>
            <a:ext cx="687719" cy="4953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BD33EA-D192-40B2-A480-851EFD9E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27C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55727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8AD489-90AD-4A49-AEC1-8E8142C9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38375"/>
            <a:ext cx="1638300" cy="1428750"/>
          </a:xfrm>
          <a:prstGeom xmlns:a="http://schemas.openxmlformats.org/drawingml/2006/main" prst="roundRect">
            <a:avLst>
              <a:gd name="adj" fmla="val 8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22167C-C1B4-4291-8687-4CC5DDDF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38375"/>
            <a:ext cx="6667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97B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94C436-FF6C-4B6B-9FD5-3B0D341D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0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97B5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0B97B5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A36D9E-7F0A-4842-8201-17F0F5EA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127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Access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F46D33-5DBC-4D39-868B-DB0B14D0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1276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9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Invitation or Google access request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CE13FB-BAFF-400A-AD98-8EF772C6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838450"/>
            <a:ext cx="2381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97B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0787A7-588F-420B-8717-4200D4A2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38375"/>
            <a:ext cx="1638300" cy="1428750"/>
          </a:xfrm>
          <a:prstGeom xmlns:a="http://schemas.openxmlformats.org/drawingml/2006/main" prst="roundRect">
            <a:avLst>
              <a:gd name="adj" fmla="val 8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85476F-B87C-435E-A57E-05BD486D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38375"/>
            <a:ext cx="6667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97B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F82F86-9CB1-4496-A105-654C6EAB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90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97B5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0B97B5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9E8A98-81BA-42AF-A03E-DAE2E18EE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638425"/>
            <a:ext cx="127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Authenticate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664230-B0AE-4623-81D9-C62D8390E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71800"/>
            <a:ext cx="1276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9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Supabase verifies the Google session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722FC8-12EE-4109-8210-7C44CFED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838450"/>
            <a:ext cx="2381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97B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F57E99-FECE-44C1-964D-BAE9EE04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38375"/>
            <a:ext cx="1638300" cy="1428750"/>
          </a:xfrm>
          <a:prstGeom xmlns:a="http://schemas.openxmlformats.org/drawingml/2006/main" prst="roundRect">
            <a:avLst>
              <a:gd name="adj" fmla="val 8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E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9F0133-4AAF-43E0-95A9-EC98ED98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38375"/>
            <a:ext cx="6667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97B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A16766-6743-4A3A-9873-4E8C0B8D7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90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97B5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0B97B5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3A61D0-6970-459E-BB7F-A67D6E33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38425"/>
            <a:ext cx="127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Authorize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DE8560-B6EB-4596-9C38-8405C729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71800"/>
            <a:ext cx="1276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9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Role and status determine the workspace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E213EE-32CA-4414-8223-6D3BB335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38450"/>
            <a:ext cx="2381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97B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760721-BA9E-4D44-8410-B07816E6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1638300" cy="1428750"/>
          </a:xfrm>
          <a:prstGeom xmlns:a="http://schemas.openxmlformats.org/drawingml/2006/main" prst="roundRect">
            <a:avLst>
              <a:gd name="adj" fmla="val 8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E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9ED5C2-EBAE-4FCA-B294-97FF870F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6667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97B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D79F1F-BC2B-4E3F-A9F9-5A45FFB4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90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97B5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0B97B5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C98992-4251-4096-B27B-748ED441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38425"/>
            <a:ext cx="127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Track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139846-B20F-4B7C-992F-E0B80928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71800"/>
            <a:ext cx="1276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9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Employee opens and completes time entries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16593D-7CEA-48C8-BD0D-C18F3C00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38450"/>
            <a:ext cx="2381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97B5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E6109D-F8B1-4884-8026-064C7214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38375"/>
            <a:ext cx="1638300" cy="1428750"/>
          </a:xfrm>
          <a:prstGeom xmlns:a="http://schemas.openxmlformats.org/drawingml/2006/main" prst="roundRect">
            <a:avLst>
              <a:gd name="adj" fmla="val 8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E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60767C-8FE1-4665-85DB-5135D037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38375"/>
            <a:ext cx="6667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97B5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E2FF2D-F97E-4F76-8659-5DD93AD5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90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97B5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0B97B5"/>
                </a:solidFill>
                <a:latin typeface="Montserrat"/>
                <a:ea typeface="Montserrat"/>
                <a:cs typeface="Montserrat"/>
              </a:rPr>
              <a:t>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994581-E80B-4342-B4E6-C39A23F3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38425"/>
            <a:ext cx="127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Review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BBB4AB-E928-4308-B327-1B712CA7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71800"/>
            <a:ext cx="1276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9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Administrators manage records and remarks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4CB4EA-15D8-4955-B8B1-8F764DC3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838450"/>
            <a:ext cx="2381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69D8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2BA22F-9706-4576-A10D-BB9E6F90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38375"/>
            <a:ext cx="1638300" cy="1428750"/>
          </a:xfrm>
          <a:prstGeom xmlns:a="http://schemas.openxmlformats.org/drawingml/2006/main" prst="roundRect">
            <a:avLst>
              <a:gd name="adj" fmla="val 8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E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909D35-2B90-481B-90BE-8514CB34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38375"/>
            <a:ext cx="6667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D8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76E382E-EDEB-4996-B3E5-F861EBD3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390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69D8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1769D8"/>
                </a:solidFill>
                <a:latin typeface="Montserrat"/>
                <a:ea typeface="Montserrat"/>
                <a:cs typeface="Montserrat"/>
              </a:rPr>
              <a:t>06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E01F469-D870-49B6-9D47-1436D7C5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638425"/>
            <a:ext cx="127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Report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DEA06F-848F-4EC7-A672-108247DB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971800"/>
            <a:ext cx="1276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9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Filtered PDF output and export history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3D4AE8-999C-451F-BC7B-8FA321F3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Every protected action passes through the API. Important changes create an audit event.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422F6D5-3FE8-42AB-99DE-B6D04502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05375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The same flow supports an invited employee, a pending access request, or an administrator account.</a:t>
            </a:r>
          </a:p>
        </p:txBody>
      </p:sp>
    </p:spTree>
    <p:extLst>
      <p:ext uri="{BB962C8B-B14F-4D97-AF65-F5344CB8AC3E}">
        <p14:creationId xmlns:p14="http://schemas.microsoft.com/office/powerpoint/2010/main" val="12466803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3B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ED055F-D327-45F4-AA94-48C08EA2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Sign-in and access approval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14A345-DEA4-4E2D-B653-8CEAEBB9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D8DE"/>
                </a:solidFill>
                <a:latin typeface="Open Sans"/>
                <a:ea typeface="Open Sans"/>
                <a:cs typeface="Open Sans"/>
              </a:defRPr>
            </a:pPr>
            <a:r>
              <a:rPr sz="1275" b="0">
                <a:solidFill>
                  <a:srgbClr val="B9D8DE"/>
                </a:solidFill>
                <a:latin typeface="Open Sans"/>
                <a:ea typeface="Open Sans"/>
                <a:cs typeface="Open Sans"/>
              </a:rPr>
              <a:t>The current interface uses Google authentication through Supabase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B8CA34-7713-4422-8577-2F680A5E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6574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ca342a82334565"/>
          <a:stretch xmlns:a="http://schemas.openxmlformats.org/drawingml/2006/main"/>
        </p:blipFill>
        <p:spPr>
          <a:xfrm xmlns:a="http://schemas.openxmlformats.org/drawingml/2006/main">
            <a:off x="10701338" y="323850"/>
            <a:ext cx="742950" cy="4953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E391D4-1490-4001-BF54-C79E1B0E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D7DF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A9D7DF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cdb6bfe38a4889"/>
          <a:srcRect xmlns:a="http://schemas.openxmlformats.org/drawingml/2006/main" l="9690" t="0" r="969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95450"/>
            <a:ext cx="4953000" cy="4095750"/>
          </a:xfrm>
          <a:prstGeom xmlns:a="http://schemas.openxmlformats.org/drawingml/2006/main" prst="roundRect">
            <a:avLst>
              <a:gd name="adj" fmla="val 4186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0741E7-F125-478A-AC18-553D6E73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953000" cy="409575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032C3B">
              <a:alpha val="72157"/>
            </a:srgbClr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7BA87D-9901-496E-A51B-440F55AB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7645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Google session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256637-D9E1-40B3-AC6A-0A9A9D21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28900"/>
            <a:ext cx="3714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4E2E7"/>
                </a:solidFill>
                <a:latin typeface="Open Sans"/>
                <a:ea typeface="Open Sans"/>
                <a:cs typeface="Open Sans"/>
              </a:defRPr>
            </a:pPr>
            <a:r>
              <a:rPr sz="1350" b="0">
                <a:solidFill>
                  <a:srgbClr val="C4E2E7"/>
                </a:solidFill>
                <a:latin typeface="Open Sans"/>
                <a:ea typeface="Open Sans"/>
                <a:cs typeface="Open Sans"/>
              </a:rPr>
              <a:t>The browser receives a Supabase session and sends its bearer token to the Render API.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4673DE-242A-4210-A8B6-EBB765BD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47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B8D0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19B8D0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634AEF-12AC-4C07-9C3D-30DBEE84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907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Invited email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247DB0-35B7-4701-8DE7-FC63362A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33600"/>
            <a:ext cx="428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D8DE"/>
                </a:solidFill>
                <a:latin typeface="Open Sans"/>
                <a:ea typeface="Open Sans"/>
                <a:cs typeface="Open Sans"/>
              </a:defRPr>
            </a:pPr>
            <a:r>
              <a:rPr sz="1125" b="0">
                <a:solidFill>
                  <a:srgbClr val="B9D8DE"/>
                </a:solidFill>
                <a:latin typeface="Open Sans"/>
                <a:ea typeface="Open Sans"/>
                <a:cs typeface="Open Sans"/>
              </a:rPr>
              <a:t>The profile activates automatically when the invitation is valid.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A0204D-9661-4379-8A26-862878B43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480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B8D0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19B8D0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1F7508-AFDD-4055-ABCD-4A0A55D8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908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Uninvited account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47F096-B7FC-41C2-8FD4-C166C915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33750"/>
            <a:ext cx="428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D8DE"/>
                </a:solidFill>
                <a:latin typeface="Open Sans"/>
                <a:ea typeface="Open Sans"/>
                <a:cs typeface="Open Sans"/>
              </a:defRPr>
            </a:pPr>
            <a:r>
              <a:rPr sz="1125" b="0">
                <a:solidFill>
                  <a:srgbClr val="B9D8DE"/>
                </a:solidFill>
                <a:latin typeface="Open Sans"/>
                <a:ea typeface="Open Sans"/>
                <a:cs typeface="Open Sans"/>
              </a:rPr>
              <a:t>The profile remains pending and can submit a two-minute access request.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AB0C39-B00E-4F3E-B1A1-489F11A0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481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B8D0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19B8D0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7D2AEC-5E53-4A43-B90E-5A253108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910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Administrator 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AC6A21-6489-4EC8-9C70-1481674F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33900"/>
            <a:ext cx="428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D8DE"/>
                </a:solidFill>
                <a:latin typeface="Open Sans"/>
                <a:ea typeface="Open Sans"/>
                <a:cs typeface="Open Sans"/>
              </a:defRPr>
            </a:pPr>
            <a:r>
              <a:rPr sz="1125" b="0">
                <a:solidFill>
                  <a:srgbClr val="B9D8DE"/>
                </a:solidFill>
                <a:latin typeface="Open Sans"/>
                <a:ea typeface="Open Sans"/>
                <a:cs typeface="Open Sans"/>
              </a:rPr>
              <a:t>Approval sets the role, department, and ACTIVE status.</a:t>
            </a:r>
          </a:p>
        </p:txBody>
      </p:sp>
    </p:spTree>
    <p:extLst>
      <p:ext uri="{BB962C8B-B14F-4D97-AF65-F5344CB8AC3E}">
        <p14:creationId xmlns:p14="http://schemas.microsoft.com/office/powerpoint/2010/main" val="11962450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E2E583-82B8-4DB7-92DA-F2D35FDA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Employee workspace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E5248F-221C-4A33-98B3-8521133A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275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A focused view of the current shift and personal work history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F17B35-3158-40A4-B0A9-E7F73325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E8EE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5c7a9951dc413f"/>
          <a:stretch xmlns:a="http://schemas.openxmlformats.org/drawingml/2006/main"/>
        </p:blipFill>
        <p:spPr>
          <a:xfrm xmlns:a="http://schemas.openxmlformats.org/drawingml/2006/main">
            <a:off x="10728953" y="323850"/>
            <a:ext cx="687719" cy="4953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7B7B5B-6EE4-4C58-BF76-85C8244A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27C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55727C"/>
                </a:solidFill>
                <a:latin typeface="Montserrat"/>
                <a:ea typeface="Montserrat"/>
                <a:cs typeface="Montserrat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8E449A-6168-452A-912E-AF40A372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45720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8F8FB"/>
          </a:solidFill>
          <a:ln xmlns:a="http://schemas.openxmlformats.org/drawingml/2006/main" w="0">
            <a:noFill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0f3550a7624beb">
            <a:extLst>
              <a:ext uri="{96DAC541-7B7A-43D3-8B79-37D633B846F1}">
                <asvg:svgBlip xmlns:asvg="http://schemas.microsoft.com/office/drawing/2016/SVG/main" r:embed="R7a2d346f536c455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52475" y="18192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D22AE3-5D9E-4E43-9C0C-5AE124CC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954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Current shift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4BF1B5-9089-46D9-A8E5-E8D02275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5740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Live clock, active status, clock-in time, and running duration.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1604FE-FDB4-458E-A769-914454AC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45720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8F8FB"/>
          </a:solidFill>
          <a:ln xmlns:a="http://schemas.openxmlformats.org/drawingml/2006/main" w="0">
            <a:noFill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4c8ce1e4bc457c">
            <a:extLst>
              <a:ext uri="{96DAC541-7B7A-43D3-8B79-37D633B846F1}">
                <asvg:svgBlip xmlns:asvg="http://schemas.microsoft.com/office/drawing/2016/SVG/main" r:embed="R7f4d78244df148c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52475" y="29622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355C36-1E5B-49AC-BEB2-55ADAF20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384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Time at a glance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39193-F881-41BD-958D-EB5891E2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0040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Completed hours for today, the week, the month, and the total number of entries.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621869-6516-48F9-96AB-B5CE9652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5720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8F8FB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0a416e744c4075">
            <a:extLst>
              <a:ext uri="{96DAC541-7B7A-43D3-8B79-37D633B846F1}">
                <asvg:svgBlip xmlns:asvg="http://schemas.microsoft.com/office/drawing/2016/SVG/main" r:embed="Rf81464708ba4413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52475" y="42767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C4D4AE-6BEA-454B-AF43-3AFAE94B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529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Assigned work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C5B409-8F02-4CFB-A715-48299D3C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1485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Projects appear as optional choices when the employee starts a session.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67B327-1D97-4526-9153-962D4E47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33550"/>
            <a:ext cx="5143500" cy="34290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063B4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D99D67-8A8A-4684-8F97-50569058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955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9B8D0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19B8D0"/>
                </a:solidFill>
                <a:latin typeface="Montserrat"/>
                <a:ea typeface="Montserrat"/>
                <a:cs typeface="Montserrat"/>
              </a:rPr>
              <a:t>READY WHEN YOU ARE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7416FA-B13D-4D4D-AF91-D31CA449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7650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9:02:14 AM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657E2B-2E15-4B94-82AD-DAE33E4AC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099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D8DE"/>
                </a:solidFill>
                <a:latin typeface="Open Sans"/>
                <a:ea typeface="Open Sans"/>
                <a:cs typeface="Open Sans"/>
              </a:defRPr>
            </a:pPr>
            <a:r>
              <a:rPr sz="1125" b="1">
                <a:solidFill>
                  <a:srgbClr val="B9D8DE"/>
                </a:solidFill>
                <a:latin typeface="Open Sans"/>
                <a:ea typeface="Open Sans"/>
                <a:cs typeface="Open Sans"/>
              </a:rPr>
              <a:t>Not clocked 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1CFC16-6513-4BCF-B689-3EE96D4B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62375"/>
            <a:ext cx="196215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0B97B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403530-9D5A-41E3-83C6-85D021FC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62375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Clock 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CCA9B1-6676-4218-8D1C-A26D83B5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24375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D8DE"/>
                </a:solidFill>
                <a:latin typeface="Open Sans"/>
                <a:ea typeface="Open Sans"/>
                <a:cs typeface="Open Sans"/>
              </a:defRPr>
            </a:pPr>
            <a:r>
              <a:rPr sz="1125" b="0">
                <a:solidFill>
                  <a:srgbClr val="B9D8DE"/>
                </a:solidFill>
                <a:latin typeface="Open Sans"/>
                <a:ea typeface="Open Sans"/>
                <a:cs typeface="Open Sans"/>
              </a:rPr>
              <a:t>Recent activity, administrator remarks, and projects continue below the shift area.</a:t>
            </a:r>
          </a:p>
        </p:txBody>
      </p:sp>
    </p:spTree>
    <p:extLst>
      <p:ext uri="{BB962C8B-B14F-4D97-AF65-F5344CB8AC3E}">
        <p14:creationId xmlns:p14="http://schemas.microsoft.com/office/powerpoint/2010/main" val="10511890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14D30B-00E9-4B5C-9FF1-C21FB336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Clock-in and clock-out lifecycle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E76BEC-7742-4F26-9887-E70A49A1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275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The database keeps one open entry per employee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598AB4-F831-4F94-97EF-EA3DB682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E8EE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22f693783041d3"/>
          <a:stretch xmlns:a="http://schemas.openxmlformats.org/drawingml/2006/main"/>
        </p:blipFill>
        <p:spPr>
          <a:xfrm xmlns:a="http://schemas.openxmlformats.org/drawingml/2006/main">
            <a:off x="10728953" y="323850"/>
            <a:ext cx="687719" cy="4953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CA423B-885B-4353-9EEB-98CD5A0A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27C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55727C"/>
                </a:solidFill>
                <a:latin typeface="Montserrat"/>
                <a:ea typeface="Montserrat"/>
                <a:cs typeface="Montserrat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91887A-4D8F-4FEC-AA9B-FDCC7891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9300"/>
            <a:ext cx="2190750" cy="1676400"/>
          </a:xfrm>
          <a:prstGeom xmlns:a="http://schemas.openxmlformats.org/drawingml/2006/main" prst="roundRect">
            <a:avLst>
              <a:gd name="adj" fmla="val 73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FF6228-2C79-4183-B56E-1AAD8C49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9300"/>
            <a:ext cx="66675" cy="1676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97B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A11040-1330-41D0-844E-17093CAB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97B5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0B97B5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0EADB2-FAA4-4B6B-9C19-FCBCF778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Choose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BFBB95-F360-4D15-8033-90EB4BB1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52725"/>
            <a:ext cx="1828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9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Select an optional project and add an optional starting note.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759CEE-F8FB-47FF-84B1-0D36DB4BA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24150"/>
            <a:ext cx="4191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97B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D17E11-8D57-4202-A5A6-57AEFB75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19300"/>
            <a:ext cx="2190750" cy="1676400"/>
          </a:xfrm>
          <a:prstGeom xmlns:a="http://schemas.openxmlformats.org/drawingml/2006/main" prst="roundRect">
            <a:avLst>
              <a:gd name="adj" fmla="val 73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D6F7AD-97FC-48EE-8E43-3B115BB1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19300"/>
            <a:ext cx="66675" cy="1676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97B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A17A9E-E169-4D46-B9E3-F167834D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171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97B5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0B97B5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7742B5-FB66-4BA3-996C-2353C1F1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1935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Start timer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BD31AA-58F2-4721-B1DB-8CF657E6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52725"/>
            <a:ext cx="1828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9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The API checks for an existing open entry, records the device, and writes CLOCK_IN.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B5DA91-875D-43A8-98AC-E9CEEB79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724150"/>
            <a:ext cx="4191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97B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1CF2DE-7150-44CD-9C21-67883087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19300"/>
            <a:ext cx="2190750" cy="1676400"/>
          </a:xfrm>
          <a:prstGeom xmlns:a="http://schemas.openxmlformats.org/drawingml/2006/main" prst="roundRect">
            <a:avLst>
              <a:gd name="adj" fmla="val 73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E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31B992-4940-4952-9A38-7C29D67E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19300"/>
            <a:ext cx="66675" cy="1676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D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D8CBDA-5582-4274-A57F-F0B5F208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71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69D8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1769D8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956A94-3D01-4007-BC1B-CD147CD6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1935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Track session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BB5916-7679-4F9E-9527-828FF5BC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52725"/>
            <a:ext cx="1828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9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The frontend timer continues from the server timestamp. Presence heartbeat updates last seen.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FE575D-4FB9-4D89-92A3-E6FCC504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24150"/>
            <a:ext cx="4191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69D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34C245-08BF-4205-A5AB-2E3D5F6B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19300"/>
            <a:ext cx="2190750" cy="1676400"/>
          </a:xfrm>
          <a:prstGeom xmlns:a="http://schemas.openxmlformats.org/drawingml/2006/main" prst="roundRect">
            <a:avLst>
              <a:gd name="adj" fmla="val 73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E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8B2D56-450C-4921-8F25-01FFCD7B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19300"/>
            <a:ext cx="66675" cy="1676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D8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2A5E17-3423-4540-B10D-050D7A18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171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69D8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1769D8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1D28BA-8B26-4B82-95CF-9168029F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41935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Complete entry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84F174-42D0-4D13-9F56-AF22224D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752725"/>
            <a:ext cx="1828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9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Clock-out requires a note. PostgreSQL calculates duration from the two timestamps.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3DEC97-59C3-4B1D-AE05-EE96D388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434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97B5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0B97B5"/>
                </a:solidFill>
                <a:latin typeface="Montserrat"/>
                <a:ea typeface="Montserrat"/>
                <a:cs typeface="Montserrat"/>
              </a:rPr>
              <a:t>Database guard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C90383-D2B8-4B58-91B7-9DE8BEC1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57725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A partial unique index prevents a second open entry for the same user.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B7BC03-6A60-433B-90CE-E6159FD4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434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9D8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1769D8"/>
                </a:solidFill>
                <a:latin typeface="Montserrat"/>
                <a:ea typeface="Montserrat"/>
                <a:cs typeface="Montserrat"/>
              </a:rPr>
              <a:t>Traceability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673667-481F-4C29-9CD2-93296A40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57725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Clock events record whether the action came from mobile or PC web.</a:t>
            </a:r>
          </a:p>
        </p:txBody>
      </p:sp>
    </p:spTree>
    <p:extLst>
      <p:ext uri="{BB962C8B-B14F-4D97-AF65-F5344CB8AC3E}">
        <p14:creationId xmlns:p14="http://schemas.microsoft.com/office/powerpoint/2010/main" val="17612221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3B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1FA9B2-E8AE-4831-BA0E-AD1027C8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Employee records and collaboration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CA6488-A527-4177-AFD0-D7A205A9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D8DE"/>
                </a:solidFill>
                <a:latin typeface="Open Sans"/>
                <a:ea typeface="Open Sans"/>
                <a:cs typeface="Open Sans"/>
              </a:defRPr>
            </a:pPr>
            <a:r>
              <a:rPr sz="1275" b="0">
                <a:solidFill>
                  <a:srgbClr val="B9D8DE"/>
                </a:solidFill>
                <a:latin typeface="Open Sans"/>
                <a:ea typeface="Open Sans"/>
                <a:cs typeface="Open Sans"/>
              </a:rPr>
              <a:t>Employees see their own time, remarks, and active coworkers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50399E-F03F-40DE-A454-CBB1AEA8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6574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15c89978a94742"/>
          <a:stretch xmlns:a="http://schemas.openxmlformats.org/drawingml/2006/main"/>
        </p:blipFill>
        <p:spPr>
          <a:xfrm xmlns:a="http://schemas.openxmlformats.org/drawingml/2006/main">
            <a:off x="10701338" y="323850"/>
            <a:ext cx="742950" cy="4953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825AB1-5E49-44CD-A1D1-3FEA8DAD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D7DF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A9D7DF"/>
                </a:solidFill>
                <a:latin typeface="Montserrat"/>
                <a:ea typeface="Montserrat"/>
                <a:cs typeface="Montserrat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5B5482-C5E4-4D76-9E51-05D1772B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45720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F5667"/>
          </a:solidFill>
          <a:ln xmlns:a="http://schemas.openxmlformats.org/drawingml/2006/main" w="0">
            <a:noFill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a05e4f9ab84b39">
            <a:extLst>
              <a:ext uri="{96DAC541-7B7A-43D3-8B79-37D633B846F1}">
                <asvg:svgBlip xmlns:asvg="http://schemas.microsoft.com/office/drawing/2016/SVG/main" r:embed="R323c80893751436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14375" y="18764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59D895-6B91-49C9-8EE1-2B6EDB2C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Personal entries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7C0B7A-AA1B-42B7-9C41-FB3C58E5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9D8DE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B9D8DE"/>
                </a:solidFill>
                <a:latin typeface="Open Sans"/>
                <a:ea typeface="Open Sans"/>
                <a:cs typeface="Open Sans"/>
              </a:rPr>
              <a:t>Date, project, status, duration, note, and administrator remarks.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67DC6A-6C71-498B-9F8D-24CF8C18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9B8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0E3D52-3A93-4242-AE15-62F9F1E2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45720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F5667"/>
          </a:solidFill>
          <a:ln xmlns:a="http://schemas.openxmlformats.org/drawingml/2006/main" w="0">
            <a:noFill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961ad169404e9c">
            <a:extLst>
              <a:ext uri="{96DAC541-7B7A-43D3-8B79-37D633B846F1}">
                <asvg:svgBlip xmlns:asvg="http://schemas.microsoft.com/office/drawing/2016/SVG/main" r:embed="R417324e087d24b7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43425" y="18764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DCDC8C-02EE-443A-B98E-0638F61C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574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Employee chat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424B90-9E69-4C5A-B727-DC140F78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95600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9D8DE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B9D8DE"/>
                </a:solidFill>
                <a:latin typeface="Open Sans"/>
                <a:ea typeface="Open Sans"/>
                <a:cs typeface="Open Sans"/>
              </a:rPr>
              <a:t>Active employees can send, edit, read, and soft-delete direct messages.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3F1098-B701-48EA-95D1-126AAE0D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719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69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F489F0-8408-4252-9A6B-4B61DC96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09750"/>
            <a:ext cx="45720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F5667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db5e1396304141">
            <a:extLst>
              <a:ext uri="{96DAC541-7B7A-43D3-8B79-37D633B846F1}">
                <asvg:svgBlip xmlns:asvg="http://schemas.microsoft.com/office/drawing/2016/SVG/main" r:embed="Rb56798729fb04dc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72475" y="18764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953D65-DF94-404D-82F4-3C85597D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574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Planned end time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FFB3E7-9F5F-4775-A661-29C2F254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95600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9D8DE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B9D8DE"/>
                </a:solidFill>
                <a:latin typeface="Open Sans"/>
                <a:ea typeface="Open Sans"/>
                <a:cs typeface="Open Sans"/>
              </a:rPr>
              <a:t>The data model supports a planned session end for scheduled clock-out work.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E2BCB7-4DCB-4688-BC29-2BFA83DF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719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9B8D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0629A7-49F2-4BB3-9A87-9FAFB1EC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9B8D0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19B8D0"/>
                </a:solidFill>
                <a:latin typeface="Montserrat"/>
                <a:ea typeface="Montserrat"/>
                <a:cs typeface="Montserrat"/>
              </a:rPr>
              <a:t>Privacy boundary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F5ABDD-DD3C-42BB-BE66-9349C1B15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4E2E7"/>
                </a:solidFill>
                <a:latin typeface="Open Sans"/>
                <a:ea typeface="Open Sans"/>
                <a:cs typeface="Open Sans"/>
              </a:defRPr>
            </a:pPr>
            <a:r>
              <a:rPr sz="1275" b="0">
                <a:solidFill>
                  <a:srgbClr val="C4E2E7"/>
                </a:solidFill>
                <a:latin typeface="Open Sans"/>
                <a:ea typeface="Open Sans"/>
                <a:cs typeface="Open Sans"/>
              </a:rPr>
              <a:t>Employees can only open conversations with other ACTIVE employees. The browser has no direct table policy for messages.</a:t>
            </a:r>
          </a:p>
        </p:txBody>
      </p:sp>
    </p:spTree>
    <p:extLst>
      <p:ext uri="{BB962C8B-B14F-4D97-AF65-F5344CB8AC3E}">
        <p14:creationId xmlns:p14="http://schemas.microsoft.com/office/powerpoint/2010/main" val="1170320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763392-9FD3-4DAA-B9EA-A0983657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Administrator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88F370-B584-4653-9246-BF2788DE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275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Team activity and decisions share one dashboard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1AAE9F-F73C-4EAB-B0AF-DD32A53E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E8EE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c8bc9f72584bd4"/>
          <a:stretch xmlns:a="http://schemas.openxmlformats.org/drawingml/2006/main"/>
        </p:blipFill>
        <p:spPr>
          <a:xfrm xmlns:a="http://schemas.openxmlformats.org/drawingml/2006/main">
            <a:off x="10728953" y="323850"/>
            <a:ext cx="687719" cy="4953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398EAA-FC5E-4903-BA94-3266C622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27C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55727C"/>
                </a:solidFill>
                <a:latin typeface="Montserrat"/>
                <a:ea typeface="Montserrat"/>
                <a:cs typeface="Montserrat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0A4905-5EC4-4924-8276-2DE21FE2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Team performance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1E6098-181A-4C68-BCBB-0FCE5B1B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4095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275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Date range, department, project, and employee filters drive the analytics view and its report output.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78B987-778C-435E-9205-74433C14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304800" cy="78105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0B97B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2CD39C-D164-4D92-BD57-584BB46F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900" b="1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B6AE83-D152-4376-AF2C-1F50FF91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67100"/>
            <a:ext cx="304800" cy="5334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0B97B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6BA7C8-EBBA-49CB-AA80-F72684EA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957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900" b="1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8C3F3B-5DBE-47AD-BEAD-3A8E4B77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124200"/>
            <a:ext cx="304800" cy="8763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1769D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31048A-1DE0-47A3-9551-894146C1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0957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900" b="1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65824C-5872-4B14-AFD5-956AA125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352800"/>
            <a:ext cx="304800" cy="6477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0B97B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AAC881-A40B-4727-A5E6-3F42B977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0957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900" b="1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8CBFFA-A048-4292-9702-508FD962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638550"/>
            <a:ext cx="304800" cy="36195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0B97B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D84A1E-6D9C-49E4-B737-1A75E258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0957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900" b="1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A16DF0-BFC1-4F61-8307-099944D5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276600"/>
            <a:ext cx="304800" cy="7239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0B97B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9B3929-F242-44AF-99AB-F503B241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957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900" b="1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791C0B-BA13-45C7-BD26-DD94CA57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09950"/>
            <a:ext cx="304800" cy="59055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0B97B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F5732B-2870-465C-B2BC-C4E22FEC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0957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900" b="1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2BF438-D744-4076-9187-18906EFD8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0025"/>
            <a:ext cx="384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E8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4D16D5-33D5-481C-96E0-89239D6A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Weekly tracked hours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ADC14C-12FE-40A1-9AF0-09ED76EA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790700"/>
            <a:ext cx="476250" cy="4762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8F8FB"/>
          </a:solidFill>
          <a:ln xmlns:a="http://schemas.openxmlformats.org/drawingml/2006/main" w="0">
            <a:noFill/>
          </a:ln>
        </p:spPr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2e770fa872464b">
            <a:extLst>
              <a:ext uri="{96DAC541-7B7A-43D3-8B79-37D633B846F1}">
                <asvg:svgBlip xmlns:asvg="http://schemas.microsoft.com/office/drawing/2016/SVG/main" r:embed="Rc4b4950b9bcd4bc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95975" y="18573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46C7BF-CF20-4B97-8C66-1EE576FD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526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People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B85827-F096-4319-ABE6-89E1B725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145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Total users, active now, and pending approvals.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782B93-F7BF-4A99-B2D4-01C35DCA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52750"/>
            <a:ext cx="476250" cy="4762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8F8FB"/>
          </a:solidFill>
          <a:ln xmlns:a="http://schemas.openxmlformats.org/drawingml/2006/main" w="0">
            <a:noFill/>
          </a:ln>
        </p:spPr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cd629de22449a0">
            <a:extLst>
              <a:ext uri="{96DAC541-7B7A-43D3-8B79-37D633B846F1}">
                <asvg:svgBlip xmlns:asvg="http://schemas.microsoft.com/office/drawing/2016/SVG/main" r:embed="Rf0653e99c6f44c0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95975" y="30194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242EE7-1E68-44D7-B29E-63F68D8E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146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Work allocation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F41F48-8A67-41BB-97DD-55304AB6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766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Project mix and team activity support operational review.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1B8E39-E6F5-4AF2-8731-CB5DA57D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114800"/>
            <a:ext cx="476250" cy="4762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8F8FB"/>
          </a:solidFill>
          <a:ln xmlns:a="http://schemas.openxmlformats.org/drawingml/2006/main" w="0">
            <a:noFill/>
          </a:ln>
        </p:spPr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eebc02f3f746eb">
            <a:extLst>
              <a:ext uri="{96DAC541-7B7A-43D3-8B79-37D633B846F1}">
                <asvg:svgBlip xmlns:asvg="http://schemas.microsoft.com/office/drawing/2016/SVG/main" r:embed="R691afa5638fc4ab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95975" y="41814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805D8C-4EA9-4953-924B-138518BF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767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Report handoff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32EC24-69BA-426F-B735-C95FCF56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386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The same filter state can generate a TEAM_PERFORMANCE report.</a:t>
            </a:r>
          </a:p>
        </p:txBody>
      </p:sp>
    </p:spTree>
    <p:extLst>
      <p:ext uri="{BB962C8B-B14F-4D97-AF65-F5344CB8AC3E}">
        <p14:creationId xmlns:p14="http://schemas.microsoft.com/office/powerpoint/2010/main" val="1051624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22DE91-1FA0-40C2-9A5D-0DB51752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People and access administration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4F0F65-A9F6-4240-8550-182A6F506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275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Administrators control account status, role, department, and projects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9C8CBB-4027-4999-9E9B-4FCBF5A3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E8EE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16231242b3438a"/>
          <a:stretch xmlns:a="http://schemas.openxmlformats.org/drawingml/2006/main"/>
        </p:blipFill>
        <p:spPr>
          <a:xfrm xmlns:a="http://schemas.openxmlformats.org/drawingml/2006/main">
            <a:off x="10728953" y="323850"/>
            <a:ext cx="687719" cy="4953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89F0F2-EB14-47FA-BBF2-A793CEC2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27C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55727C"/>
                </a:solidFill>
                <a:latin typeface="Montserrat"/>
                <a:ea typeface="Montserrat"/>
                <a:cs typeface="Montserrat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EBDC8D-A8FC-4CFE-AD3B-94D40C4E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24050"/>
            <a:ext cx="2000250" cy="1524000"/>
          </a:xfrm>
          <a:prstGeom xmlns:a="http://schemas.openxmlformats.org/drawingml/2006/main" prst="roundRect">
            <a:avLst>
              <a:gd name="adj" fmla="val 8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26E094-A158-40AC-B4C9-F6E5E5C0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24050"/>
            <a:ext cx="66675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97B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DE265F-7C6D-44C9-A25B-E47AC74B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97B5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0B97B5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0C3DFB-7F1A-44C9-847B-1C9E23DF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Pre-authorize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CE9CC2-908C-4986-86AE-B6D0D67E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574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9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Invite an email and choose employee or administrator access.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AA0860-9454-4193-BCC6-28DCC6D0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90800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97B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1296A6-89CD-428D-B561-EAC9BB29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924050"/>
            <a:ext cx="2000250" cy="1524000"/>
          </a:xfrm>
          <a:prstGeom xmlns:a="http://schemas.openxmlformats.org/drawingml/2006/main" prst="roundRect">
            <a:avLst>
              <a:gd name="adj" fmla="val 8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B0423E-5443-4A2C-B2DB-7A3D6DBC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924050"/>
            <a:ext cx="66675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97B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07D99A-D03D-4E79-AF1F-AE0C54946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0764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97B5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0B97B5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54A10D-2B23-4BDD-9B10-DB6F604F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32410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Approve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C2CE05-2A4F-4859-8CDB-6600AE16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574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9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Review pending Google access requests before they expire.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536FC1-1E6D-49F2-8005-5182CE3B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90800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97B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EE6C38-C421-4180-A9B9-C89C8B456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24050"/>
            <a:ext cx="2000250" cy="1524000"/>
          </a:xfrm>
          <a:prstGeom xmlns:a="http://schemas.openxmlformats.org/drawingml/2006/main" prst="roundRect">
            <a:avLst>
              <a:gd name="adj" fmla="val 8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E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E1A2E5-AB6C-406D-8D52-F4B9FD33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24050"/>
            <a:ext cx="66675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D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156536-2E03-4529-AFDF-52D4845E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0764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69D8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1769D8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8656F1-8BC8-4629-83A3-360E547E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2410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Assign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D6E4A8-60C2-4427-BB3F-E3A95435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6574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9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Set the department and add any number of project assignments.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2EFBA9-8318-4147-9C5A-17F59DFD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90800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69D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CBF604-638F-4D3B-84C8-B698B126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24050"/>
            <a:ext cx="3028950" cy="1524000"/>
          </a:xfrm>
          <a:prstGeom xmlns:a="http://schemas.openxmlformats.org/drawingml/2006/main" prst="roundRect">
            <a:avLst>
              <a:gd name="adj" fmla="val 8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E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B5F2E3-830E-41F3-8A06-D787909A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24050"/>
            <a:ext cx="66675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D8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DF648B-DE2D-48B4-96A4-3CC8FE03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764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69D8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1769D8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7772FD-7BB3-4213-ABB7-47C1012D8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241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Maintain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F8B6DC-D927-4B0A-B1B3-749307CF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57475"/>
            <a:ext cx="266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9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Change role, archive access, restore the account, or permanently remove login.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A3C994-97AE-4298-95AE-CDC25CAD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E8E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DA25C7-81A8-49A6-B6B9-D78F1D82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Safeguards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3B74B7-AC0E-45BE-8AE5-94932A69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275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An administrator cannot remove their own account. The system also prevents demoting or archiving the last active administrator.</a:t>
            </a:r>
          </a:p>
        </p:txBody>
      </p:sp>
    </p:spTree>
    <p:extLst>
      <p:ext uri="{BB962C8B-B14F-4D97-AF65-F5344CB8AC3E}">
        <p14:creationId xmlns:p14="http://schemas.microsoft.com/office/powerpoint/2010/main" val="17402984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63B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858FAE-3F33-46C4-9794-13D13ACB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Departments and projects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9216F4-C077-4B09-92AC-7F72188A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D8DE"/>
                </a:solidFill>
                <a:latin typeface="Open Sans"/>
                <a:ea typeface="Open Sans"/>
                <a:cs typeface="Open Sans"/>
              </a:defRPr>
            </a:pPr>
            <a:r>
              <a:rPr sz="1275" b="0">
                <a:solidFill>
                  <a:srgbClr val="B9D8DE"/>
                </a:solidFill>
                <a:latin typeface="Open Sans"/>
                <a:ea typeface="Open Sans"/>
                <a:cs typeface="Open Sans"/>
              </a:rPr>
              <a:t>Department membership stays optional while project assignment supports many-to-many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510E61-58AC-452F-B52D-62983416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6574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50e5d5fd5943a8"/>
          <a:stretch xmlns:a="http://schemas.openxmlformats.org/drawingml/2006/main"/>
        </p:blipFill>
        <p:spPr>
          <a:xfrm xmlns:a="http://schemas.openxmlformats.org/drawingml/2006/main">
            <a:off x="10701338" y="323850"/>
            <a:ext cx="742950" cy="4953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84C3AA-77FF-4230-8468-D5430294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D7DF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A9D7DF"/>
                </a:solidFill>
                <a:latin typeface="Montserrat"/>
                <a:ea typeface="Montserrat"/>
                <a:cs typeface="Montserrat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DA988A-DB82-49D0-BA99-27813831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81200"/>
            <a:ext cx="2428875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E5263"/>
          </a:solidFill>
          <a:ln xmlns:a="http://schemas.openxmlformats.org/drawingml/2006/main" w="9525">
            <a:solidFill>
              <a:srgbClr val="2E718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3574C5-0E23-4C2B-84E7-31999D87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9B8D0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19B8D0"/>
                </a:solidFill>
                <a:latin typeface="Montserrat"/>
                <a:ea typeface="Montserrat"/>
                <a:cs typeface="Montserrat"/>
              </a:rPr>
              <a:t>DEPARTMENT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0A6AE7-FB8D-4305-81B8-14D4CC19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574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Operations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020EFA-6D7B-487B-A926-1E0039C8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146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9D8DE"/>
                </a:solidFill>
                <a:latin typeface="Open Sans"/>
                <a:ea typeface="Open Sans"/>
                <a:cs typeface="Open Sans"/>
              </a:defRPr>
            </a:pPr>
            <a:r>
              <a:rPr sz="1050" b="0">
                <a:solidFill>
                  <a:srgbClr val="B9D8DE"/>
                </a:solidFill>
                <a:latin typeface="Open Sans"/>
                <a:ea typeface="Open Sans"/>
                <a:cs typeface="Open Sans"/>
              </a:rPr>
              <a:t>Optional on each profile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E7AB40-4A59-4A94-A60F-F4F4382B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790700"/>
            <a:ext cx="257175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E3BD63-F9BF-4555-B67E-EC0AC25C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0002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97B5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0B97B5"/>
                </a:solidFill>
                <a:latin typeface="Montserrat"/>
                <a:ea typeface="Montserrat"/>
                <a:cs typeface="Montserrat"/>
              </a:rPr>
              <a:t>EMPLOYEE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877879-E694-400F-82F4-C78AAEA6F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3241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2175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Profile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12909E-7C50-4F4A-816B-A29EAA6A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8003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05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Role · Status · Last seen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18BA89-D18D-4558-A3D6-6B2DC6F4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124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05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No department is valid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02CB04-7D75-46E5-9EAE-A36F7ABD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81200"/>
            <a:ext cx="2428875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24D78"/>
          </a:solidFill>
          <a:ln xmlns:a="http://schemas.openxmlformats.org/drawingml/2006/main" w="9525">
            <a:solidFill>
              <a:srgbClr val="326FA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D3FC81-53DA-4254-AD9D-08FAFCD7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1526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9D8FF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A9D8FF"/>
                </a:solidFill>
                <a:latin typeface="Montserrat"/>
                <a:ea typeface="Montserrat"/>
                <a:cs typeface="Montserrat"/>
              </a:rPr>
              <a:t>PROJECTS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7DF0C2-9B36-4713-AAB7-C5F257CD0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4574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Multiple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4DEFF7-91B4-4986-9D4F-3421641A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9146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9E1F7"/>
                </a:solidFill>
                <a:latin typeface="Open Sans"/>
                <a:ea typeface="Open Sans"/>
                <a:cs typeface="Open Sans"/>
              </a:defRPr>
            </a:pPr>
            <a:r>
              <a:rPr sz="1050" b="0">
                <a:solidFill>
                  <a:srgbClr val="C9E1F7"/>
                </a:solidFill>
                <a:latin typeface="Open Sans"/>
                <a:ea typeface="Open Sans"/>
                <a:cs typeface="Open Sans"/>
              </a:rPr>
              <a:t>Optional per time entry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E99BE5-0418-41DD-ADD1-8B5C7597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24125"/>
            <a:ext cx="952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B8D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FC500C-18D7-479E-B303-F53A34DD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524125"/>
            <a:ext cx="952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69D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C5704F-9457-42F8-BCF8-23552E11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B8D0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19B8D0"/>
                </a:solidFill>
                <a:latin typeface="Montserrat"/>
                <a:ea typeface="Montserrat"/>
                <a:cs typeface="Montserrat"/>
              </a:rPr>
              <a:t>Department assignment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CFB087-51E2-459B-B87C-8F94955D0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9D8DE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B9D8DE"/>
                </a:solidFill>
                <a:latin typeface="Open Sans"/>
                <a:ea typeface="Open Sans"/>
                <a:cs typeface="Open Sans"/>
              </a:rPr>
              <a:t>One profile can belong to zero or one department.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AF9B10-E601-4953-A72F-5271460B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095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Project assignment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131543-721E-4121-822F-980AF299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457700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9D8DE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B9D8DE"/>
                </a:solidFill>
                <a:latin typeface="Open Sans"/>
                <a:ea typeface="Open Sans"/>
                <a:cs typeface="Open Sans"/>
              </a:rPr>
              <a:t>The user_projects join table connects employees to any number of projects.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3863A7-B69B-42E2-B758-5BD62029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095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9D8FF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A9D8FF"/>
                </a:solidFill>
                <a:latin typeface="Montserrat"/>
                <a:ea typeface="Montserrat"/>
                <a:cs typeface="Montserrat"/>
              </a:rPr>
              <a:t>Recorded work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7FEA2E-E63A-473E-AD7F-31FC23A6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45770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9E1F7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C9E1F7"/>
                </a:solidFill>
                <a:latin typeface="Open Sans"/>
                <a:ea typeface="Open Sans"/>
                <a:cs typeface="Open Sans"/>
              </a:rPr>
              <a:t>Each time entry can reference one project or remain unassigned.</a:t>
            </a:r>
          </a:p>
        </p:txBody>
      </p:sp>
    </p:spTree>
    <p:extLst>
      <p:ext uri="{BB962C8B-B14F-4D97-AF65-F5344CB8AC3E}">
        <p14:creationId xmlns:p14="http://schemas.microsoft.com/office/powerpoint/2010/main" val="11007985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40FF62-2D27-4447-B854-D46A8164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Time review, remarks, and deleted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9D40B3-3942-442F-906B-279B961BA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275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Operational corrections stay recoverable until an administrator chooses permanent deletion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EF5CCC-0E1C-4AA2-88C0-CB0ED54BD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E8EE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46ffdc9833402a"/>
          <a:stretch xmlns:a="http://schemas.openxmlformats.org/drawingml/2006/main"/>
        </p:blipFill>
        <p:spPr>
          <a:xfrm xmlns:a="http://schemas.openxmlformats.org/drawingml/2006/main">
            <a:off x="10728953" y="323850"/>
            <a:ext cx="687719" cy="4953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067437-201A-4285-A4C9-28491434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27C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55727C"/>
                </a:solidFill>
                <a:latin typeface="Montserrat"/>
                <a:ea typeface="Montserrat"/>
                <a:cs typeface="Montserrat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7FAFDE-9B3F-45EC-ACFE-CEDFF783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476250" cy="4762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8F8FB"/>
          </a:solidFill>
          <a:ln xmlns:a="http://schemas.openxmlformats.org/drawingml/2006/main" w="0">
            <a:noFill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e33e5c81664001">
            <a:extLst>
              <a:ext uri="{96DAC541-7B7A-43D3-8B79-37D633B846F1}">
                <asvg:svgBlip xmlns:asvg="http://schemas.microsoft.com/office/drawing/2016/SVG/main" r:embed="R0c2ee4d9fc93425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9625" y="19145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2101DC-165E-4FE5-9509-44006FF2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809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B6E04F-4541-4B36-B4D6-C176C45B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1907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Administrators inspect employee, project, timestamps, duration, note, and status.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DB2A0F-CE3F-4009-8FC9-E0EF6CEC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476250" cy="4762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8F8FB"/>
          </a:solidFill>
          <a:ln xmlns:a="http://schemas.openxmlformats.org/drawingml/2006/main" w="0">
            <a:noFill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ece9d19b6b4db2">
            <a:extLst>
              <a:ext uri="{96DAC541-7B7A-43D3-8B79-37D633B846F1}">
                <asvg:svgBlip xmlns:asvg="http://schemas.microsoft.com/office/drawing/2016/SVG/main" r:embed="R84b6ea9166be4f7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9625" y="32099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9BC9BA-F931-40F9-AC96-EC452F27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051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Remark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88CDE2-4F55-447D-B26E-961E78D1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86150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Administrator remarks remain separate from the employee clock-out note.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BCE53B-1B06-4B69-991B-5176A972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476250" cy="4762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8F8FB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1a19612b68483c">
            <a:extLst>
              <a:ext uri="{96DAC541-7B7A-43D3-8B79-37D633B846F1}">
                <asvg:svgBlip xmlns:asvg="http://schemas.microsoft.com/office/drawing/2016/SVG/main" r:embed="R646cfb3bdbc6452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9625" y="45053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0F1D55-DA0A-40BA-9FDC-E0BA5148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005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Archive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9CA3A5-5099-49D3-8B0C-3927493B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815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Soft deletion removes an entry from dashboards and reports while preserving recovery.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73057F-F4D3-4D9A-8FED-D7F432C5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90700"/>
            <a:ext cx="4381500" cy="3143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DF5F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A969ED-44E4-4158-88B0-1EA8D653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526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Deleted time entry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BAC4F2-E3F4-4DE6-937E-C541CC0C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57500"/>
            <a:ext cx="138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97B5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0B97B5"/>
                </a:solidFill>
                <a:latin typeface="Montserrat"/>
                <a:ea typeface="Montserrat"/>
                <a:cs typeface="Montserrat"/>
              </a:rPr>
              <a:t>Restore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973F2C-B12E-40AF-BC0C-8567F1A7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575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125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Returns the entry to normal views.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A52ED0-101D-4F73-B987-7C95A46A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719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E8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A5B31B-8D7F-4F1B-B3C8-10D10FEB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195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69D8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1769D8"/>
                </a:solidFill>
                <a:latin typeface="Montserrat"/>
                <a:ea typeface="Montserrat"/>
                <a:cs typeface="Montserrat"/>
              </a:rPr>
              <a:t>Delete permanently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0067CB-CC2B-4AF3-B12C-4D395F5F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196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125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Allowed only after the entry has been archived.</a:t>
            </a:r>
          </a:p>
        </p:txBody>
      </p:sp>
    </p:spTree>
    <p:extLst>
      <p:ext uri="{BB962C8B-B14F-4D97-AF65-F5344CB8AC3E}">
        <p14:creationId xmlns:p14="http://schemas.microsoft.com/office/powerpoint/2010/main" val="15518453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3F2AFC-CA46-4DD2-A7A6-7CEDDB54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Reports and PDF output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0B19D2-5C00-4DB3-B4CC-E09B9A2E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275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Admin filters produce a stored report record and a print-ready chart document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C30573-531A-4334-92EC-B704770C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E8EE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24f916625b4f3d"/>
          <a:stretch xmlns:a="http://schemas.openxmlformats.org/drawingml/2006/main"/>
        </p:blipFill>
        <p:spPr>
          <a:xfrm xmlns:a="http://schemas.openxmlformats.org/drawingml/2006/main">
            <a:off x="10728953" y="323850"/>
            <a:ext cx="687719" cy="4953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5338CC-E3CA-4CC4-89C0-9B8E6DB4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27C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55727C"/>
                </a:solidFill>
                <a:latin typeface="Montserrat"/>
                <a:ea typeface="Montserrat"/>
                <a:cs typeface="Montserrat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0E0AD0-2FDF-46B4-AF9D-47B8C8EB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85950"/>
            <a:ext cx="45720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8F8FB"/>
          </a:solidFill>
          <a:ln xmlns:a="http://schemas.openxmlformats.org/drawingml/2006/main" w="0">
            <a:noFill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b9b5055a9a4231">
            <a:extLst>
              <a:ext uri="{96DAC541-7B7A-43D3-8B79-37D633B846F1}">
                <asvg:svgBlip xmlns:asvg="http://schemas.microsoft.com/office/drawing/2016/SVG/main" r:embed="R40311413898f4a8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1025" y="19526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970049-5A10-4AD6-B50C-AAC66544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Filter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97A2E2-97C0-4E7E-B897-A134197E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7655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125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Date range, department, project, or employee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5B3E09-711B-47B8-B308-38B72B5A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619375"/>
            <a:ext cx="3429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97B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28AB35-AE3E-4AA8-8414-6D6DDA97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85950"/>
            <a:ext cx="45720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8F8FB"/>
          </a:solidFill>
          <a:ln xmlns:a="http://schemas.openxmlformats.org/drawingml/2006/main" w="0">
            <a:noFill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65a6ed35b7404a">
            <a:extLst>
              <a:ext uri="{96DAC541-7B7A-43D3-8B79-37D633B846F1}">
                <asvg:svgBlip xmlns:asvg="http://schemas.microsoft.com/office/drawing/2016/SVG/main" r:embed="R00a681a707134a6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476625" y="19526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1DE12A-4D2A-464C-8FC0-EFAC15D4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76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Analyze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39BA8A-2D30-4B5B-BA57-1CF918DD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7655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125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Daily hours, project allocation, totals, and averages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6B346B-AF69-4193-90CE-DBC02873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19375"/>
            <a:ext cx="3429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97B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2E8623-C830-4295-A733-C529CB633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85950"/>
            <a:ext cx="45720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8F8FB"/>
          </a:solidFill>
          <a:ln xmlns:a="http://schemas.openxmlformats.org/drawingml/2006/main" w="0">
            <a:noFill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5f6a887a2d4cc8">
            <a:extLst>
              <a:ext uri="{96DAC541-7B7A-43D3-8B79-37D633B846F1}">
                <asvg:svgBlip xmlns:asvg="http://schemas.microsoft.com/office/drawing/2016/SVG/main" r:embed="R7dfba53e2f2c47b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72225" y="19526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BC200E-817B-440D-81BB-A53BBE16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76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Preview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E96E38-6FDD-4621-9DFB-07748F5D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7655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125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ACE-branded A4 report with detailed entries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A186C5-2A99-4D6D-8314-7DFC237C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19375"/>
            <a:ext cx="3429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69D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E61BD7-A0B2-4EDD-A629-20770C22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885950"/>
            <a:ext cx="45720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8F8FB"/>
          </a:solidFill>
          <a:ln xmlns:a="http://schemas.openxmlformats.org/drawingml/2006/main" w="0">
            <a:noFill/>
          </a:ln>
        </p:spPr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0c4139e53a4147">
            <a:extLst>
              <a:ext uri="{96DAC541-7B7A-43D3-8B79-37D633B846F1}">
                <asvg:svgBlip xmlns:asvg="http://schemas.microsoft.com/office/drawing/2016/SVG/main" r:embed="Rc15aec71928f4e1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267825" y="19526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950A4E-CB38-4384-91BB-A6564695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76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Export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F3410A-A4D0-4B54-B782-DB6304C0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7655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125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Browser PDF output and a report_exports record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4A4764-C76D-4C28-9111-BBFACE0A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E8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2E5CF9-5E9A-4D89-A44F-1D48B780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97B5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0B97B5"/>
                </a:solidFill>
                <a:latin typeface="Montserrat"/>
                <a:ea typeface="Montserrat"/>
                <a:cs typeface="Montserrat"/>
              </a:rPr>
              <a:t>Stored report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8B5959-30AA-42EF-821E-DE7967EC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Type, date range, filters, creator, generated time, and record count.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4B841A-8B16-46C5-B50B-44DD6943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38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PDF contents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4AECAD-FE7A-4F60-B28A-2E022821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800600"/>
            <a:ext cx="333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Summary metrics, tracked hours by day, hours by project, and time-entry detail.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75B908-E8E8-4D28-874D-2F6BFE4D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38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69D8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1769D8"/>
                </a:solidFill>
                <a:latin typeface="Montserrat"/>
                <a:ea typeface="Montserrat"/>
                <a:cs typeface="Montserrat"/>
              </a:rPr>
              <a:t>Export history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A8E245-7073-422F-9B65-E1DDE183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80060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File type, file name, URL when available, exporter, and timestamp.</a:t>
            </a:r>
          </a:p>
        </p:txBody>
      </p:sp>
    </p:spTree>
    <p:extLst>
      <p:ext uri="{BB962C8B-B14F-4D97-AF65-F5344CB8AC3E}">
        <p14:creationId xmlns:p14="http://schemas.microsoft.com/office/powerpoint/2010/main" val="213142266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63B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479BB6-0372-46B2-9C16-0ADF37A7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Audit history and restricted oversight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A9ED54-A103-42B5-9517-05DEBB0B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D8DE"/>
                </a:solidFill>
                <a:latin typeface="Open Sans"/>
                <a:ea typeface="Open Sans"/>
                <a:cs typeface="Open Sans"/>
              </a:defRPr>
            </a:pPr>
            <a:r>
              <a:rPr sz="1275" b="0">
                <a:solidFill>
                  <a:srgbClr val="B9D8DE"/>
                </a:solidFill>
                <a:latin typeface="Open Sans"/>
                <a:ea typeface="Open Sans"/>
                <a:cs typeface="Open Sans"/>
              </a:rPr>
              <a:t>The system records important actions and protects sensitive operational records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158B30-EFE4-419C-8793-970C5636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6574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7fdca001b44cfd"/>
          <a:stretch xmlns:a="http://schemas.openxmlformats.org/drawingml/2006/main"/>
        </p:blipFill>
        <p:spPr>
          <a:xfrm xmlns:a="http://schemas.openxmlformats.org/drawingml/2006/main">
            <a:off x="10701338" y="323850"/>
            <a:ext cx="742950" cy="4953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F3D3C8-0DA0-4C93-9D14-04471F54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D7DF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A9D7DF"/>
                </a:solidFill>
                <a:latin typeface="Montserrat"/>
                <a:ea typeface="Montserrat"/>
                <a:cs typeface="Montserrat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587C67-CA5D-4362-851F-1EEDDD60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B8D0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19B8D0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E2ECC0-2EE1-4FEE-8378-58EEC3CE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526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LOGIN / LOGOUT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724B81-673D-4759-A2B3-B0C74DD5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81225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657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A283DB-8A83-4869-A426-D3235158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B8D0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19B8D0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1F4410-BA92-425C-8CE8-85D28C40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384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CLOCK_IN / CLOCK_OUT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87D643-10C7-48A7-8BAD-0E903648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67025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657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D6AF67-74DB-4238-B30D-60B10050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9AEFF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79AEFF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AEE73A-E2DC-45A7-A791-34DD58B4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242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APPROVE / DENY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6EEAF1-A1C1-4B33-87BA-38A443E5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52825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657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3A473-A7E0-4009-9F80-245335F3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9AEFF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79AEFF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06F2D8-076B-4C1C-8DDE-3CF65B57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100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CREATE / UPDATE / DELETE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811BDC-AD56-4569-B20F-8C534C80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38625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657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FA3B5A-53BA-429D-A628-0F40AD9C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9AEFF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79AEFF"/>
                </a:solidFill>
                <a:latin typeface="Montserrat"/>
                <a:ea typeface="Montserrat"/>
                <a:cs typeface="Montserrat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041A52-195B-4C36-BAB5-2AD7E9BE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958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GENERATE / EXPORT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50632B-6605-482F-99E2-240BBDFF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24425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657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C62EFA-2BC4-463E-9374-BEFDCC8E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716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Each audit record can retain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4FC7E9-9F0A-411B-8CE0-3FEEA962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24100"/>
            <a:ext cx="226695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0E5263"/>
          </a:solidFill>
          <a:ln xmlns:a="http://schemas.openxmlformats.org/drawingml/2006/main" w="9525">
            <a:solidFill>
              <a:srgbClr val="2E718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24514F-AFD5-4F8A-9DF0-614F542E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324100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EEF2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D7EEF2"/>
                </a:solidFill>
                <a:latin typeface="Open Sans"/>
                <a:ea typeface="Open Sans"/>
                <a:cs typeface="Open Sans"/>
              </a:rPr>
              <a:t>Actor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A17B0A-E2E0-44BB-8858-4BC4D138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24100"/>
            <a:ext cx="226695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0E5263"/>
          </a:solidFill>
          <a:ln xmlns:a="http://schemas.openxmlformats.org/drawingml/2006/main" w="9525">
            <a:solidFill>
              <a:srgbClr val="2E718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C557A1-EF27-4EAF-AE9A-632934C3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24100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EEF2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D7EEF2"/>
                </a:solidFill>
                <a:latin typeface="Open Sans"/>
                <a:ea typeface="Open Sans"/>
                <a:cs typeface="Open Sans"/>
              </a:rPr>
              <a:t>Entity and record ID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8F3BF0-B0B5-431B-A071-0EB24704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43250"/>
            <a:ext cx="226695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0E5263"/>
          </a:solidFill>
          <a:ln xmlns:a="http://schemas.openxmlformats.org/drawingml/2006/main" w="9525">
            <a:solidFill>
              <a:srgbClr val="2E718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893E39-4826-48CC-A207-707DF734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143250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EEF2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D7EEF2"/>
                </a:solidFill>
                <a:latin typeface="Open Sans"/>
                <a:ea typeface="Open Sans"/>
                <a:cs typeface="Open Sans"/>
              </a:rPr>
              <a:t>Description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197015-6AEF-44D3-9450-119F1CEE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43250"/>
            <a:ext cx="226695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0E5263"/>
          </a:solidFill>
          <a:ln xmlns:a="http://schemas.openxmlformats.org/drawingml/2006/main" w="9525">
            <a:solidFill>
              <a:srgbClr val="2E718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D44C60-4C89-470E-B5BE-6F5D88B6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43250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EEF2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D7EEF2"/>
                </a:solidFill>
                <a:latin typeface="Open Sans"/>
                <a:ea typeface="Open Sans"/>
                <a:cs typeface="Open Sans"/>
              </a:rPr>
              <a:t>IP address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4BDB49-FF5B-4F1D-8450-5E93504A2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62400"/>
            <a:ext cx="226695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0E5263"/>
          </a:solidFill>
          <a:ln xmlns:a="http://schemas.openxmlformats.org/drawingml/2006/main" w="9525">
            <a:solidFill>
              <a:srgbClr val="2E718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91DF81-BB0A-4851-A132-9D8EE532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962400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EEF2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D7EEF2"/>
                </a:solidFill>
                <a:latin typeface="Open Sans"/>
                <a:ea typeface="Open Sans"/>
                <a:cs typeface="Open Sans"/>
              </a:rPr>
              <a:t>User agent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F1FC51-7CB1-4A42-8B57-296C43DC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62400"/>
            <a:ext cx="226695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0E5263"/>
          </a:solidFill>
          <a:ln xmlns:a="http://schemas.openxmlformats.org/drawingml/2006/main" w="9525">
            <a:solidFill>
              <a:srgbClr val="2E718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904A06-C73F-4086-9E5A-7D0F71FE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962400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EEF2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D7EEF2"/>
                </a:solidFill>
                <a:latin typeface="Open Sans"/>
                <a:ea typeface="Open Sans"/>
                <a:cs typeface="Open Sans"/>
              </a:rPr>
              <a:t>Created timestamp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3F35C1-C3FC-4DA1-B0BA-60493E62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720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B8D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19B8D0"/>
                </a:solidFill>
                <a:latin typeface="Montserrat"/>
                <a:ea typeface="Montserrat"/>
                <a:cs typeface="Montserrat"/>
              </a:rPr>
              <a:t>Database rule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7C85EA-D325-4364-AD07-7F3592CD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7685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D8DE"/>
                </a:solidFill>
                <a:latin typeface="Open Sans"/>
                <a:ea typeface="Open Sans"/>
                <a:cs typeface="Open Sans"/>
              </a:defRPr>
            </a:pPr>
            <a:r>
              <a:rPr sz="1125" b="0">
                <a:solidFill>
                  <a:srgbClr val="B9D8DE"/>
                </a:solidFill>
                <a:latin typeface="Open Sans"/>
                <a:ea typeface="Open Sans"/>
                <a:cs typeface="Open Sans"/>
              </a:rPr>
              <a:t>A trigger blocks updates and deletions from audit_logs. The administrator chat log has an additional account-level restriction.</a:t>
            </a:r>
          </a:p>
        </p:txBody>
      </p:sp>
    </p:spTree>
    <p:extLst>
      <p:ext uri="{BB962C8B-B14F-4D97-AF65-F5344CB8AC3E}">
        <p14:creationId xmlns:p14="http://schemas.microsoft.com/office/powerpoint/2010/main" val="130449711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520575-21BD-4DAD-AEC4-BA4DD6B6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3B2E2D-FAF3-45CB-9897-0FF4EDA2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275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The browser never receives the Supabase secret key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740F0C-B64C-481E-B926-059BFE1C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E8EE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d0c06e98a34ca7"/>
          <a:stretch xmlns:a="http://schemas.openxmlformats.org/drawingml/2006/main"/>
        </p:blipFill>
        <p:spPr>
          <a:xfrm xmlns:a="http://schemas.openxmlformats.org/drawingml/2006/main">
            <a:off x="10728953" y="323850"/>
            <a:ext cx="687719" cy="4953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0D5707-A552-4639-BB2B-5BE69701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27C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55727C"/>
                </a:solidFill>
                <a:latin typeface="Montserrat"/>
                <a:ea typeface="Montserrat"/>
                <a:cs typeface="Montserrat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870A0B-0E72-4E79-9A4A-E0C4C799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2667000" cy="1809750"/>
          </a:xfrm>
          <a:prstGeom xmlns:a="http://schemas.openxmlformats.org/drawingml/2006/main" prst="roundRect">
            <a:avLst>
              <a:gd name="adj" fmla="val 68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D8F104-67F7-465B-A557-6B366553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66675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97B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843743-36D1-4338-A4EE-2CEB1D77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97B5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0B97B5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CEFBBC-DAD2-4CF7-8434-80CCCF4E0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Vercel frontend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572609-2192-46A9-9452-278BC64D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28925"/>
            <a:ext cx="2305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9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Static HTML, shared CSS, browser JavaScript, Supabase client session.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1E4D3B-2193-49EF-8C14-6A8DEBFC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2667000" cy="1809750"/>
          </a:xfrm>
          <a:prstGeom xmlns:a="http://schemas.openxmlformats.org/drawingml/2006/main" prst="roundRect">
            <a:avLst>
              <a:gd name="adj" fmla="val 68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5A45AF-FE2F-4039-91C6-5A1D86E4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66675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97B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515A6A-C9F1-40F0-8B34-4A56546A9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247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97B5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0B97B5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B3D65B-BACA-4E1F-85F1-AA6DAE2E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9555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Render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7DA82E-6452-45C2-B786-D373988C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28925"/>
            <a:ext cx="2305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9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Node.js and Express validate tokens, roles, inputs, and business rules.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1F0B61-394D-4001-AA40-F45C6A8C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95500"/>
            <a:ext cx="2667000" cy="1809750"/>
          </a:xfrm>
          <a:prstGeom xmlns:a="http://schemas.openxmlformats.org/drawingml/2006/main" prst="roundRect">
            <a:avLst>
              <a:gd name="adj" fmla="val 68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3D95BD-38F5-4BED-8287-B15F0072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95500"/>
            <a:ext cx="66675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D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4EF9C4-5FA7-4240-A284-109C83C2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47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69D8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1769D8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4CC0C2-1559-416E-8B10-FBA830FC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9555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Supabase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68B7E7-193F-45B1-9575-ECA5D534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28925"/>
            <a:ext cx="2305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9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Google Auth, PostgreSQL, server-side access, triggers, and RLS.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13183C-3690-46F1-89D7-DBD91D76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57500"/>
            <a:ext cx="10001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97B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9BF3A8-C2E1-44C6-A8D8-363BD9C0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57500"/>
            <a:ext cx="10001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69D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3FA582-0FC4-4830-97EC-C7E1B302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765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975" b="1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Bearer access token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7357AF-C11E-4335-AC5C-E7E057E75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975" b="1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Server-only key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3C6D06-1CFF-476F-B8BE-D9FED0A8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Production protections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DC0D81-6AE0-44C9-AB6C-C0B35541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275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Helmet response headers, explicit CORS origins, JSON size limits, input validation, and centralized error responses.</a:t>
            </a:r>
          </a:p>
        </p:txBody>
      </p:sp>
    </p:spTree>
    <p:extLst>
      <p:ext uri="{BB962C8B-B14F-4D97-AF65-F5344CB8AC3E}">
        <p14:creationId xmlns:p14="http://schemas.microsoft.com/office/powerpoint/2010/main" val="29733152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6AFD73-9589-4550-A606-3F9C1CDA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Data model by business domain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31E692-1BBC-451E-BD79-EBADD098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275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Twelve table definitions preserve identity, work, communication, and governance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293550-6796-4669-8C8B-4924C484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E8EE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e4266da1774f85"/>
          <a:stretch xmlns:a="http://schemas.openxmlformats.org/drawingml/2006/main"/>
        </p:blipFill>
        <p:spPr>
          <a:xfrm xmlns:a="http://schemas.openxmlformats.org/drawingml/2006/main">
            <a:off x="10728953" y="323850"/>
            <a:ext cx="687719" cy="4953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A1FF1A-6716-4601-AA31-637299FD4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27C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55727C"/>
                </a:solidFill>
                <a:latin typeface="Montserrat"/>
                <a:ea typeface="Montserrat"/>
                <a:cs typeface="Montserrat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ACEE84-DA20-4048-8184-91627B92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97B5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0B97B5"/>
                </a:solidFill>
                <a:latin typeface="Montserrat"/>
                <a:ea typeface="Montserrat"/>
                <a:cs typeface="Montserrat"/>
              </a:rPr>
              <a:t>IDENTITY AND ACCESS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8F4995-57B1-45C4-A6F8-C69A365A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190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B4B"/>
                </a:solidFill>
                <a:latin typeface="Open Sans"/>
                <a:ea typeface="Open Sans"/>
                <a:cs typeface="Open Sans"/>
              </a:defRPr>
            </a:pPr>
            <a:r>
              <a:rPr sz="1350" b="1">
                <a:solidFill>
                  <a:srgbClr val="063B4B"/>
                </a:solidFill>
                <a:latin typeface="Open Sans"/>
                <a:ea typeface="Open Sans"/>
                <a:cs typeface="Open Sans"/>
              </a:rPr>
              <a:t>profiles</a:t>
            </a:r>
          </a:p>
          <a:p xmlns:a="http://schemas.openxmlformats.org/drawingml/2006/main">
            <a:pPr algn="l">
              <a:defRPr sz="1350" b="1">
                <a:solidFill>
                  <a:srgbClr val="063B4B"/>
                </a:solidFill>
                <a:latin typeface="Open Sans"/>
                <a:ea typeface="Open Sans"/>
                <a:cs typeface="Open Sans"/>
              </a:defRPr>
            </a:pPr>
            <a:r>
              <a:rPr sz="1350" b="1">
                <a:solidFill>
                  <a:srgbClr val="063B4B"/>
                </a:solidFill>
                <a:latin typeface="Open Sans"/>
                <a:ea typeface="Open Sans"/>
                <a:cs typeface="Open Sans"/>
              </a:rPr>
              <a:t>departments</a:t>
            </a:r>
          </a:p>
          <a:p xmlns:a="http://schemas.openxmlformats.org/drawingml/2006/main">
            <a:pPr algn="l">
              <a:defRPr sz="1350" b="1">
                <a:solidFill>
                  <a:srgbClr val="063B4B"/>
                </a:solidFill>
                <a:latin typeface="Open Sans"/>
                <a:ea typeface="Open Sans"/>
                <a:cs typeface="Open Sans"/>
              </a:defRPr>
            </a:pPr>
            <a:r>
              <a:rPr sz="1350" b="1">
                <a:solidFill>
                  <a:srgbClr val="063B4B"/>
                </a:solidFill>
                <a:latin typeface="Open Sans"/>
                <a:ea typeface="Open Sans"/>
                <a:cs typeface="Open Sans"/>
              </a:rPr>
              <a:t>invitations</a:t>
            </a:r>
          </a:p>
          <a:p xmlns:a="http://schemas.openxmlformats.org/drawingml/2006/main">
            <a:pPr algn="l">
              <a:defRPr sz="1350" b="1">
                <a:solidFill>
                  <a:srgbClr val="063B4B"/>
                </a:solidFill>
                <a:latin typeface="Open Sans"/>
                <a:ea typeface="Open Sans"/>
                <a:cs typeface="Open Sans"/>
              </a:defRPr>
            </a:pPr>
            <a:r>
              <a:rPr sz="1350" b="1">
                <a:solidFill>
                  <a:srgbClr val="063B4B"/>
                </a:solidFill>
                <a:latin typeface="Open Sans"/>
                <a:ea typeface="Open Sans"/>
                <a:cs typeface="Open Sans"/>
              </a:rPr>
              <a:t>access_requests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407107-F711-4A55-9806-DE07CEE0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954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97B5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0B97B5"/>
                </a:solidFill>
                <a:latin typeface="Montserrat"/>
                <a:ea typeface="Montserrat"/>
                <a:cs typeface="Montserrat"/>
              </a:rPr>
              <a:t>WORK STRUCTURE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7F6ED0-9FA1-4801-B292-51B6198C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38350"/>
            <a:ext cx="2190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B4B"/>
                </a:solidFill>
                <a:latin typeface="Open Sans"/>
                <a:ea typeface="Open Sans"/>
                <a:cs typeface="Open Sans"/>
              </a:defRPr>
            </a:pPr>
            <a:r>
              <a:rPr sz="1350" b="1">
                <a:solidFill>
                  <a:srgbClr val="063B4B"/>
                </a:solidFill>
                <a:latin typeface="Open Sans"/>
                <a:ea typeface="Open Sans"/>
                <a:cs typeface="Open Sans"/>
              </a:rPr>
              <a:t>projects</a:t>
            </a:r>
          </a:p>
          <a:p xmlns:a="http://schemas.openxmlformats.org/drawingml/2006/main">
            <a:pPr algn="l">
              <a:defRPr sz="1350" b="1">
                <a:solidFill>
                  <a:srgbClr val="063B4B"/>
                </a:solidFill>
                <a:latin typeface="Open Sans"/>
                <a:ea typeface="Open Sans"/>
                <a:cs typeface="Open Sans"/>
              </a:defRPr>
            </a:pPr>
            <a:r>
              <a:rPr sz="1350" b="1">
                <a:solidFill>
                  <a:srgbClr val="063B4B"/>
                </a:solidFill>
                <a:latin typeface="Open Sans"/>
                <a:ea typeface="Open Sans"/>
                <a:cs typeface="Open Sans"/>
              </a:rPr>
              <a:t>user_projects</a:t>
            </a:r>
          </a:p>
          <a:p xmlns:a="http://schemas.openxmlformats.org/drawingml/2006/main">
            <a:pPr algn="l">
              <a:defRPr sz="1350" b="1">
                <a:solidFill>
                  <a:srgbClr val="063B4B"/>
                </a:solidFill>
                <a:latin typeface="Open Sans"/>
                <a:ea typeface="Open Sans"/>
                <a:cs typeface="Open Sans"/>
              </a:defRPr>
            </a:pPr>
            <a:r>
              <a:rPr sz="1350" b="1">
                <a:solidFill>
                  <a:srgbClr val="063B4B"/>
                </a:solidFill>
                <a:latin typeface="Open Sans"/>
                <a:ea typeface="Open Sans"/>
                <a:cs typeface="Open Sans"/>
              </a:rPr>
              <a:t>time_entries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3BE32D-E27A-4C9C-A2E0-C6E183D9C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954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69D8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1769D8"/>
                </a:solidFill>
                <a:latin typeface="Montserrat"/>
                <a:ea typeface="Montserrat"/>
                <a:cs typeface="Montserrat"/>
              </a:rPr>
              <a:t>COLLABORATION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D27F50-5690-445C-9701-E3028DE9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38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B4B"/>
                </a:solidFill>
                <a:latin typeface="Open Sans"/>
                <a:ea typeface="Open Sans"/>
                <a:cs typeface="Open Sans"/>
              </a:defRPr>
            </a:pPr>
            <a:r>
              <a:rPr sz="1350" b="1">
                <a:solidFill>
                  <a:srgbClr val="063B4B"/>
                </a:solidFill>
                <a:latin typeface="Open Sans"/>
                <a:ea typeface="Open Sans"/>
                <a:cs typeface="Open Sans"/>
              </a:rPr>
              <a:t>admin_remarks</a:t>
            </a:r>
          </a:p>
          <a:p xmlns:a="http://schemas.openxmlformats.org/drawingml/2006/main">
            <a:pPr algn="l">
              <a:defRPr sz="1350" b="1">
                <a:solidFill>
                  <a:srgbClr val="063B4B"/>
                </a:solidFill>
                <a:latin typeface="Open Sans"/>
                <a:ea typeface="Open Sans"/>
                <a:cs typeface="Open Sans"/>
              </a:defRPr>
            </a:pPr>
            <a:r>
              <a:rPr sz="1350" b="1">
                <a:solidFill>
                  <a:srgbClr val="063B4B"/>
                </a:solidFill>
                <a:latin typeface="Open Sans"/>
                <a:ea typeface="Open Sans"/>
                <a:cs typeface="Open Sans"/>
              </a:rPr>
              <a:t>employee_messages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47AA57-1185-4383-BD09-BE7FDCD0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954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69D8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1769D8"/>
                </a:solidFill>
                <a:latin typeface="Montserrat"/>
                <a:ea typeface="Montserrat"/>
                <a:cs typeface="Montserrat"/>
              </a:rPr>
              <a:t>REPORTING AND CONTROL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F79E89-7E7E-43F8-938C-8D80AC31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38350"/>
            <a:ext cx="2190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B4B"/>
                </a:solidFill>
                <a:latin typeface="Open Sans"/>
                <a:ea typeface="Open Sans"/>
                <a:cs typeface="Open Sans"/>
              </a:defRPr>
            </a:pPr>
            <a:r>
              <a:rPr sz="1350" b="1">
                <a:solidFill>
                  <a:srgbClr val="063B4B"/>
                </a:solidFill>
                <a:latin typeface="Open Sans"/>
                <a:ea typeface="Open Sans"/>
                <a:cs typeface="Open Sans"/>
              </a:rPr>
              <a:t>reports</a:t>
            </a:r>
          </a:p>
          <a:p xmlns:a="http://schemas.openxmlformats.org/drawingml/2006/main">
            <a:pPr algn="l">
              <a:defRPr sz="1350" b="1">
                <a:solidFill>
                  <a:srgbClr val="063B4B"/>
                </a:solidFill>
                <a:latin typeface="Open Sans"/>
                <a:ea typeface="Open Sans"/>
                <a:cs typeface="Open Sans"/>
              </a:defRPr>
            </a:pPr>
            <a:r>
              <a:rPr sz="1350" b="1">
                <a:solidFill>
                  <a:srgbClr val="063B4B"/>
                </a:solidFill>
                <a:latin typeface="Open Sans"/>
                <a:ea typeface="Open Sans"/>
                <a:cs typeface="Open Sans"/>
              </a:rPr>
              <a:t>report_exports</a:t>
            </a:r>
          </a:p>
          <a:p xmlns:a="http://schemas.openxmlformats.org/drawingml/2006/main">
            <a:pPr algn="l">
              <a:defRPr sz="1350" b="1">
                <a:solidFill>
                  <a:srgbClr val="063B4B"/>
                </a:solidFill>
                <a:latin typeface="Open Sans"/>
                <a:ea typeface="Open Sans"/>
                <a:cs typeface="Open Sans"/>
              </a:defRPr>
            </a:pPr>
            <a:r>
              <a:rPr sz="1350" b="1">
                <a:solidFill>
                  <a:srgbClr val="063B4B"/>
                </a:solidFill>
                <a:latin typeface="Open Sans"/>
                <a:ea typeface="Open Sans"/>
                <a:cs typeface="Open Sans"/>
              </a:rPr>
              <a:t>audit_logs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6CCD40-FB1D-4C3D-9903-6E76BB56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E8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2E8AC4-9834-448C-B87B-CE21756F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Key relationships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BCA0E8-539A-4F68-B017-0AB0797E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profiles own time entries and reports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A72763-4075-4E7A-9003-1D026588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user_projects connects people and projects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11DB6C-45E0-4306-B3DD-74066CFB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76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remarks attach to time entries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11529-1358-407C-AE25-0D92B58D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196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exports attach to reports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7A1982-16FF-41D2-B243-BFAA6C5A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76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audit logs reference actors and entities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AA6515-7B82-455D-B565-42EF61F9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196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employee messages connect two profiles</a:t>
            </a:r>
          </a:p>
        </p:txBody>
      </p:sp>
    </p:spTree>
    <p:extLst>
      <p:ext uri="{BB962C8B-B14F-4D97-AF65-F5344CB8AC3E}">
        <p14:creationId xmlns:p14="http://schemas.microsoft.com/office/powerpoint/2010/main" val="17733302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63B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8685FD-AC5F-46D6-B1D8-1C2035DA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Security and deployment checklist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927A15-F8F8-47C5-9FEB-F7D24805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D8DE"/>
                </a:solidFill>
                <a:latin typeface="Open Sans"/>
                <a:ea typeface="Open Sans"/>
                <a:cs typeface="Open Sans"/>
              </a:defRPr>
            </a:pPr>
            <a:r>
              <a:rPr sz="1275" b="0">
                <a:solidFill>
                  <a:srgbClr val="B9D8DE"/>
                </a:solidFill>
                <a:latin typeface="Open Sans"/>
                <a:ea typeface="Open Sans"/>
                <a:cs typeface="Open Sans"/>
              </a:rPr>
              <a:t>The repository separates public configuration from server-only authority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7F8151-691A-4952-9663-627F1541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6574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53750a903043c8"/>
          <a:stretch xmlns:a="http://schemas.openxmlformats.org/drawingml/2006/main"/>
        </p:blipFill>
        <p:spPr>
          <a:xfrm xmlns:a="http://schemas.openxmlformats.org/drawingml/2006/main">
            <a:off x="10701338" y="323850"/>
            <a:ext cx="742950" cy="4953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192E0D-3AD5-4E8D-A71A-FB7F4FCA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D7DF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A9D7DF"/>
                </a:solidFill>
                <a:latin typeface="Montserrat"/>
                <a:ea typeface="Montserrat"/>
                <a:cs typeface="Montserrat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5BF858-D25B-4C3E-913E-4D9429FBA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45720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E5263"/>
          </a:solidFill>
          <a:ln xmlns:a="http://schemas.openxmlformats.org/drawingml/2006/main" w="0">
            <a:noFill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7c458df7bc4e9f">
            <a:extLst>
              <a:ext uri="{96DAC541-7B7A-43D3-8B79-37D633B846F1}">
                <asvg:svgBlip xmlns:asvg="http://schemas.microsoft.com/office/drawing/2016/SVG/main" r:embed="R1a7c818f7bd24f9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14375" y="18573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373AB7-E884-4DDB-BCB2-BE812592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526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Authentication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667ACC-0CC3-4A9C-AABD-35A1B703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95500"/>
            <a:ext cx="381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D8DE"/>
                </a:solidFill>
                <a:latin typeface="Open Sans"/>
                <a:ea typeface="Open Sans"/>
                <a:cs typeface="Open Sans"/>
              </a:defRPr>
            </a:pPr>
            <a:r>
              <a:rPr sz="1125" b="0">
                <a:solidFill>
                  <a:srgbClr val="B9D8DE"/>
                </a:solidFill>
                <a:latin typeface="Open Sans"/>
                <a:ea typeface="Open Sans"/>
                <a:cs typeface="Open Sans"/>
              </a:rPr>
              <a:t>Supabase validates every bearer token before protected routes run.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AC3698-AAEF-4FA2-A510-8863256C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90850"/>
            <a:ext cx="45720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E5263"/>
          </a:solidFill>
          <a:ln xmlns:a="http://schemas.openxmlformats.org/drawingml/2006/main" w="0">
            <a:noFill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9d8e2c8719457f">
            <a:extLst>
              <a:ext uri="{96DAC541-7B7A-43D3-8B79-37D633B846F1}">
                <asvg:svgBlip xmlns:asvg="http://schemas.microsoft.com/office/drawing/2016/SVG/main" r:embed="Re1812d3767a7406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14375" y="30575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D8ED2C-F635-4C2A-9ECF-659B3B5B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527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Authorization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836EA9-D100-4163-B7F1-CE0A4331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95650"/>
            <a:ext cx="381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D8DE"/>
                </a:solidFill>
                <a:latin typeface="Open Sans"/>
                <a:ea typeface="Open Sans"/>
                <a:cs typeface="Open Sans"/>
              </a:defRPr>
            </a:pPr>
            <a:r>
              <a:rPr sz="1125" b="0">
                <a:solidFill>
                  <a:srgbClr val="B9D8DE"/>
                </a:solidFill>
                <a:latin typeface="Open Sans"/>
                <a:ea typeface="Open Sans"/>
                <a:cs typeface="Open Sans"/>
              </a:rPr>
              <a:t>ACTIVE, ADMIN, USER, and restricted-admin checks guard the API.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EC7A76-8E14-4BEA-A167-5668BC3E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0"/>
            <a:ext cx="45720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E5263"/>
          </a:solidFill>
          <a:ln xmlns:a="http://schemas.openxmlformats.org/drawingml/2006/main" w="0">
            <a:noFill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11e854fec24581">
            <a:extLst>
              <a:ext uri="{96DAC541-7B7A-43D3-8B79-37D633B846F1}">
                <asvg:svgBlip xmlns:asvg="http://schemas.microsoft.com/office/drawing/2016/SVG/main" r:embed="R3bacb6782fcf4c4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14375" y="42576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259F1D-0C25-4FC6-864D-9D71DB21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29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Data protection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79A2C5-4582-4F15-968A-600FC4F0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95800"/>
            <a:ext cx="381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D8DE"/>
                </a:solidFill>
                <a:latin typeface="Open Sans"/>
                <a:ea typeface="Open Sans"/>
                <a:cs typeface="Open Sans"/>
              </a:defRPr>
            </a:pPr>
            <a:r>
              <a:rPr sz="1125" b="0">
                <a:solidFill>
                  <a:srgbClr val="B9D8DE"/>
                </a:solidFill>
                <a:latin typeface="Open Sans"/>
                <a:ea typeface="Open Sans"/>
                <a:cs typeface="Open Sans"/>
              </a:rPr>
              <a:t>RLS, immutable audit logs, unique constraints, and server-side validation limit unsafe states.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99AD69-9AAF-42B6-8F5F-C7EFFEFD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526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9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Deployment sequence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4E88BB-ABFE-4036-8321-90B242258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050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FFD6EB-CDE7-4D96-9B01-F55A81FB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050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B8D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38EDE5-B52C-4FB7-866C-7448E11C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479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Run the Supabase schema and feature patches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A6B129-AC9C-41B2-8CF8-F16D3347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337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C22EDA-F3DC-48DA-B3BE-1DD52CD7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337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B8D0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F42E4E-19A7-4912-A696-6E875066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765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Configure Google Auth and redirect URLs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0517E4-B911-4DD0-8158-94046B14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623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C53AE1-251B-488B-B6EF-37FFFC9E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623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B8D0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04D55D-DBC8-459C-AC13-F88E36B7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052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Set Render secrets and allowed frontend origins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BEFE58-12A0-45C4-A94E-A4CFFA84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910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ACC44D-91FF-44F3-A9DE-2C18F23F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910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9AEF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6025FF-FD9A-4DDD-A6CB-C0CF75FA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338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Deploy the static frontend to Vercel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FF2E7A-554A-40B3-958E-CEB21B44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196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A884C4-FD04-47F4-8EBE-EBBAB635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196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9AEFF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584DF4-A80D-48F7-AE3A-51C6A794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7625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Seed the first administrator and verify /health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099AF6-561D-402A-852B-67B624EC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721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3E9ED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D3E9ED"/>
                </a:solidFill>
                <a:latin typeface="Open Sans"/>
                <a:ea typeface="Open Sans"/>
                <a:cs typeface="Open Sans"/>
              </a:rPr>
              <a:t>Current sign-in path: Google account approved through invitation or administrator review.</a:t>
            </a:r>
          </a:p>
        </p:txBody>
      </p:sp>
    </p:spTree>
    <p:extLst>
      <p:ext uri="{BB962C8B-B14F-4D97-AF65-F5344CB8AC3E}">
        <p14:creationId xmlns:p14="http://schemas.microsoft.com/office/powerpoint/2010/main" val="12302014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2026-09-04T09:22:50.5100000Z</dcterms:created>
  <dcterms:modified xsi:type="dcterms:W3CDTF">2026-09-04T09:22:50.5100000Z</dcterms:modified>
</coreProperties>
</file>